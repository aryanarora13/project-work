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1" r:id="rId3"/>
    <p:sldId id="257" r:id="rId4"/>
    <p:sldId id="263" r:id="rId5"/>
    <p:sldId id="264" r:id="rId6"/>
    <p:sldId id="265" r:id="rId7"/>
    <p:sldId id="266" r:id="rId8"/>
    <p:sldId id="262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2257B-BBBF-49CD-A5DD-C3850C73CE74}" v="22" dt="2026-08-27T13:45:32.717"/>
    <p1510:client id="{FE4B861C-592A-455A-B092-D6E87EE04346}" v="1" dt="2026-08-27T17:59:51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Arora" userId="b787227e2ec070f4" providerId="LiveId" clId="{A65BE4C5-78DA-47DB-89A3-56F4EE9C9206}"/>
    <pc:docChg chg="undo custSel addSld modSld">
      <pc:chgData name="Aryan Arora" userId="b787227e2ec070f4" providerId="LiveId" clId="{A65BE4C5-78DA-47DB-89A3-56F4EE9C9206}" dt="2026-08-27T17:59:51.271" v="240"/>
      <pc:docMkLst>
        <pc:docMk/>
      </pc:docMkLst>
      <pc:sldChg chg="modSp new">
        <pc:chgData name="Aryan Arora" userId="b787227e2ec070f4" providerId="LiveId" clId="{A65BE4C5-78DA-47DB-89A3-56F4EE9C9206}" dt="2026-08-23T18:20:21.570" v="165"/>
        <pc:sldMkLst>
          <pc:docMk/>
          <pc:sldMk cId="2511129951" sldId="256"/>
        </pc:sldMkLst>
        <pc:spChg chg="mod">
          <ac:chgData name="Aryan Arora" userId="b787227e2ec070f4" providerId="LiveId" clId="{A65BE4C5-78DA-47DB-89A3-56F4EE9C9206}" dt="2026-08-23T18:20:21.570" v="165"/>
          <ac:spMkLst>
            <pc:docMk/>
            <pc:sldMk cId="2511129951" sldId="256"/>
            <ac:spMk id="2" creationId="{1A95EE6D-205B-0269-7345-B80B16FCED1E}"/>
          </ac:spMkLst>
        </pc:spChg>
      </pc:sldChg>
      <pc:sldChg chg="modSp new mod">
        <pc:chgData name="Aryan Arora" userId="b787227e2ec070f4" providerId="LiveId" clId="{A65BE4C5-78DA-47DB-89A3-56F4EE9C9206}" dt="2026-08-23T18:17:27.782" v="120" actId="20577"/>
        <pc:sldMkLst>
          <pc:docMk/>
          <pc:sldMk cId="2470409146" sldId="257"/>
        </pc:sldMkLst>
        <pc:spChg chg="mod">
          <ac:chgData name="Aryan Arora" userId="b787227e2ec070f4" providerId="LiveId" clId="{A65BE4C5-78DA-47DB-89A3-56F4EE9C9206}" dt="2026-08-23T18:17:13.118" v="109" actId="20577"/>
          <ac:spMkLst>
            <pc:docMk/>
            <pc:sldMk cId="2470409146" sldId="257"/>
            <ac:spMk id="2" creationId="{962169DA-6F6C-52CA-596D-C7792DC2075A}"/>
          </ac:spMkLst>
        </pc:spChg>
        <pc:spChg chg="mod">
          <ac:chgData name="Aryan Arora" userId="b787227e2ec070f4" providerId="LiveId" clId="{A65BE4C5-78DA-47DB-89A3-56F4EE9C9206}" dt="2026-08-23T18:17:27.782" v="120" actId="20577"/>
          <ac:spMkLst>
            <pc:docMk/>
            <pc:sldMk cId="2470409146" sldId="257"/>
            <ac:spMk id="3" creationId="{DF8CC0C6-7675-AE22-8160-0E0C3991D8E6}"/>
          </ac:spMkLst>
        </pc:spChg>
      </pc:sldChg>
      <pc:sldChg chg="modSp add mod">
        <pc:chgData name="Aryan Arora" userId="b787227e2ec070f4" providerId="LiveId" clId="{A65BE4C5-78DA-47DB-89A3-56F4EE9C9206}" dt="2026-08-23T17:31:21.320" v="20"/>
        <pc:sldMkLst>
          <pc:docMk/>
          <pc:sldMk cId="3581882527" sldId="258"/>
        </pc:sldMkLst>
        <pc:spChg chg="mod">
          <ac:chgData name="Aryan Arora" userId="b787227e2ec070f4" providerId="LiveId" clId="{A65BE4C5-78DA-47DB-89A3-56F4EE9C9206}" dt="2026-08-23T17:31:21.320" v="20"/>
          <ac:spMkLst>
            <pc:docMk/>
            <pc:sldMk cId="3581882527" sldId="258"/>
            <ac:spMk id="3" creationId="{91C67ABA-FE02-2AAE-62FB-B8598B670EAE}"/>
          </ac:spMkLst>
        </pc:spChg>
      </pc:sldChg>
      <pc:sldChg chg="modSp add mod">
        <pc:chgData name="Aryan Arora" userId="b787227e2ec070f4" providerId="LiveId" clId="{A65BE4C5-78DA-47DB-89A3-56F4EE9C9206}" dt="2026-08-23T17:53:08.874" v="29" actId="27636"/>
        <pc:sldMkLst>
          <pc:docMk/>
          <pc:sldMk cId="52899601" sldId="259"/>
        </pc:sldMkLst>
        <pc:spChg chg="mod">
          <ac:chgData name="Aryan Arora" userId="b787227e2ec070f4" providerId="LiveId" clId="{A65BE4C5-78DA-47DB-89A3-56F4EE9C9206}" dt="2026-08-23T17:53:08.874" v="29" actId="27636"/>
          <ac:spMkLst>
            <pc:docMk/>
            <pc:sldMk cId="52899601" sldId="259"/>
            <ac:spMk id="3" creationId="{85BBED03-0DBC-E411-C1AF-CE18EC85272F}"/>
          </ac:spMkLst>
        </pc:spChg>
      </pc:sldChg>
      <pc:sldChg chg="modSp add mod">
        <pc:chgData name="Aryan Arora" userId="b787227e2ec070f4" providerId="LiveId" clId="{A65BE4C5-78DA-47DB-89A3-56F4EE9C9206}" dt="2026-08-23T18:08:05.602" v="37"/>
        <pc:sldMkLst>
          <pc:docMk/>
          <pc:sldMk cId="3833798129" sldId="260"/>
        </pc:sldMkLst>
        <pc:spChg chg="mod">
          <ac:chgData name="Aryan Arora" userId="b787227e2ec070f4" providerId="LiveId" clId="{A65BE4C5-78DA-47DB-89A3-56F4EE9C9206}" dt="2026-08-23T18:08:05.602" v="37"/>
          <ac:spMkLst>
            <pc:docMk/>
            <pc:sldMk cId="3833798129" sldId="260"/>
            <ac:spMk id="3" creationId="{EF2EE86E-AFC8-8DF6-B6AB-4A95D13DACF1}"/>
          </ac:spMkLst>
        </pc:spChg>
      </pc:sldChg>
      <pc:sldChg chg="modSp new mod">
        <pc:chgData name="Aryan Arora" userId="b787227e2ec070f4" providerId="LiveId" clId="{A65BE4C5-78DA-47DB-89A3-56F4EE9C9206}" dt="2026-08-23T18:11:40.547" v="74" actId="20577"/>
        <pc:sldMkLst>
          <pc:docMk/>
          <pc:sldMk cId="1465024936" sldId="261"/>
        </pc:sldMkLst>
        <pc:spChg chg="mod">
          <ac:chgData name="Aryan Arora" userId="b787227e2ec070f4" providerId="LiveId" clId="{A65BE4C5-78DA-47DB-89A3-56F4EE9C9206}" dt="2026-08-23T18:11:01.392" v="57" actId="20577"/>
          <ac:spMkLst>
            <pc:docMk/>
            <pc:sldMk cId="1465024936" sldId="261"/>
            <ac:spMk id="2" creationId="{197290E7-4F72-0E25-6210-7215851EABB0}"/>
          </ac:spMkLst>
        </pc:spChg>
        <pc:spChg chg="mod">
          <ac:chgData name="Aryan Arora" userId="b787227e2ec070f4" providerId="LiveId" clId="{A65BE4C5-78DA-47DB-89A3-56F4EE9C9206}" dt="2026-08-23T18:11:40.547" v="74" actId="20577"/>
          <ac:spMkLst>
            <pc:docMk/>
            <pc:sldMk cId="1465024936" sldId="261"/>
            <ac:spMk id="3" creationId="{3C88FDA5-DD38-F62F-E6EF-34577DDF65FE}"/>
          </ac:spMkLst>
        </pc:spChg>
      </pc:sldChg>
      <pc:sldChg chg="add">
        <pc:chgData name="Aryan Arora" userId="b787227e2ec070f4" providerId="LiveId" clId="{A65BE4C5-78DA-47DB-89A3-56F4EE9C9206}" dt="2026-08-23T18:15:29.006" v="84" actId="2890"/>
        <pc:sldMkLst>
          <pc:docMk/>
          <pc:sldMk cId="1771925662" sldId="262"/>
        </pc:sldMkLst>
      </pc:sldChg>
      <pc:sldChg chg="modSp add mod">
        <pc:chgData name="Aryan Arora" userId="b787227e2ec070f4" providerId="LiveId" clId="{A65BE4C5-78DA-47DB-89A3-56F4EE9C9206}" dt="2026-08-23T18:19:32.856" v="160"/>
        <pc:sldMkLst>
          <pc:docMk/>
          <pc:sldMk cId="3162752367" sldId="263"/>
        </pc:sldMkLst>
        <pc:spChg chg="mod">
          <ac:chgData name="Aryan Arora" userId="b787227e2ec070f4" providerId="LiveId" clId="{A65BE4C5-78DA-47DB-89A3-56F4EE9C9206}" dt="2026-08-23T18:18:42.789" v="149" actId="20577"/>
          <ac:spMkLst>
            <pc:docMk/>
            <pc:sldMk cId="3162752367" sldId="263"/>
            <ac:spMk id="2" creationId="{196ABBE1-CE10-E849-9B50-BF2B057982FB}"/>
          </ac:spMkLst>
        </pc:spChg>
        <pc:spChg chg="mod">
          <ac:chgData name="Aryan Arora" userId="b787227e2ec070f4" providerId="LiveId" clId="{A65BE4C5-78DA-47DB-89A3-56F4EE9C9206}" dt="2026-08-23T18:19:32.856" v="160"/>
          <ac:spMkLst>
            <pc:docMk/>
            <pc:sldMk cId="3162752367" sldId="263"/>
            <ac:spMk id="3" creationId="{33F11905-8014-F6A7-DFA7-867B7EC16577}"/>
          </ac:spMkLst>
        </pc:spChg>
      </pc:sldChg>
      <pc:sldChg chg="modSp add mod">
        <pc:chgData name="Aryan Arora" userId="b787227e2ec070f4" providerId="LiveId" clId="{A65BE4C5-78DA-47DB-89A3-56F4EE9C9206}" dt="2026-08-23T18:19:59.854" v="164"/>
        <pc:sldMkLst>
          <pc:docMk/>
          <pc:sldMk cId="2690772527" sldId="264"/>
        </pc:sldMkLst>
        <pc:spChg chg="mod">
          <ac:chgData name="Aryan Arora" userId="b787227e2ec070f4" providerId="LiveId" clId="{A65BE4C5-78DA-47DB-89A3-56F4EE9C9206}" dt="2026-08-23T18:19:59.854" v="164"/>
          <ac:spMkLst>
            <pc:docMk/>
            <pc:sldMk cId="2690772527" sldId="264"/>
            <ac:spMk id="3" creationId="{795B2290-71D1-3099-EEEE-E5F617219C7A}"/>
          </ac:spMkLst>
        </pc:spChg>
      </pc:sldChg>
      <pc:sldChg chg="modSp new mod">
        <pc:chgData name="Aryan Arora" userId="b787227e2ec070f4" providerId="LiveId" clId="{A65BE4C5-78DA-47DB-89A3-56F4EE9C9206}" dt="2026-08-27T12:46:56.266" v="191" actId="113"/>
        <pc:sldMkLst>
          <pc:docMk/>
          <pc:sldMk cId="4292092617" sldId="265"/>
        </pc:sldMkLst>
        <pc:spChg chg="mod">
          <ac:chgData name="Aryan Arora" userId="b787227e2ec070f4" providerId="LiveId" clId="{A65BE4C5-78DA-47DB-89A3-56F4EE9C9206}" dt="2026-08-27T12:46:08.690" v="173" actId="20577"/>
          <ac:spMkLst>
            <pc:docMk/>
            <pc:sldMk cId="4292092617" sldId="265"/>
            <ac:spMk id="2" creationId="{008EC106-2771-8066-4DD9-49DA5E5A541D}"/>
          </ac:spMkLst>
        </pc:spChg>
        <pc:spChg chg="mod">
          <ac:chgData name="Aryan Arora" userId="b787227e2ec070f4" providerId="LiveId" clId="{A65BE4C5-78DA-47DB-89A3-56F4EE9C9206}" dt="2026-08-27T12:46:56.266" v="191" actId="113"/>
          <ac:spMkLst>
            <pc:docMk/>
            <pc:sldMk cId="4292092617" sldId="265"/>
            <ac:spMk id="3" creationId="{90066223-E67F-DE1F-A9AA-FB1F9E4E7066}"/>
          </ac:spMkLst>
        </pc:spChg>
      </pc:sldChg>
      <pc:sldChg chg="addSp delSp modSp new mod">
        <pc:chgData name="Aryan Arora" userId="b787227e2ec070f4" providerId="LiveId" clId="{A65BE4C5-78DA-47DB-89A3-56F4EE9C9206}" dt="2026-08-27T17:59:51.271" v="240"/>
        <pc:sldMkLst>
          <pc:docMk/>
          <pc:sldMk cId="2385373051" sldId="266"/>
        </pc:sldMkLst>
        <pc:spChg chg="mod">
          <ac:chgData name="Aryan Arora" userId="b787227e2ec070f4" providerId="LiveId" clId="{A65BE4C5-78DA-47DB-89A3-56F4EE9C9206}" dt="2026-08-27T13:41:26.690" v="207" actId="20577"/>
          <ac:spMkLst>
            <pc:docMk/>
            <pc:sldMk cId="2385373051" sldId="266"/>
            <ac:spMk id="2" creationId="{89CAAA13-E3F3-0410-B78B-1B05EA91B141}"/>
          </ac:spMkLst>
        </pc:spChg>
        <pc:spChg chg="del">
          <ac:chgData name="Aryan Arora" userId="b787227e2ec070f4" providerId="LiveId" clId="{A65BE4C5-78DA-47DB-89A3-56F4EE9C9206}" dt="2026-08-27T13:41:56.741" v="208" actId="3680"/>
          <ac:spMkLst>
            <pc:docMk/>
            <pc:sldMk cId="2385373051" sldId="266"/>
            <ac:spMk id="3" creationId="{476A85E3-240C-BC49-33F1-10C2A164AF16}"/>
          </ac:spMkLst>
        </pc:spChg>
        <pc:graphicFrameChg chg="add mod ord modGraphic">
          <ac:chgData name="Aryan Arora" userId="b787227e2ec070f4" providerId="LiveId" clId="{A65BE4C5-78DA-47DB-89A3-56F4EE9C9206}" dt="2026-08-27T17:59:51.271" v="240"/>
          <ac:graphicFrameMkLst>
            <pc:docMk/>
            <pc:sldMk cId="2385373051" sldId="266"/>
            <ac:graphicFrameMk id="4" creationId="{AD236D29-85BD-3B49-1C9B-18AF6B39FF9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62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6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87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17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52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5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8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15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91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0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2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72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EE6D-205B-0269-7345-B80B16FCE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Real-Time Voice AI Agent for Banking Support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C490E-055C-1232-7BF3-72C927F40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2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90E7-4F72-0E25-6210-7215851E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FDA5-DD38-F62F-E6EF-34577DD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Indian private banks handle over 10 million support calls monthly with 6-plus minute average handle times and high IVR frustration, leading to poor CSAT scores and customer churn. Tier-1 queries such as balance checks, card blocks, and EMI schedules represent 60% of call volume but consume the same agent time as complex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02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69DA-6F6C-52CA-596D-C7792DC2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CC0C6-7675-AE22-8160-0E0C3991D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real-time voice AI agent using </a:t>
            </a:r>
            <a:r>
              <a:rPr lang="en-US" dirty="0" err="1"/>
              <a:t>Pipecat</a:t>
            </a:r>
            <a:r>
              <a:rPr lang="en-US" dirty="0"/>
              <a:t> for call orchestration, faster-whisper for streaming speech-to-text, Coqui TTS for text-to-speech, and a RAG backend grounded on bank policy documents. The agent handles Tier-1 queries and escalates complex queries to human agents with full conversation context and entity summary.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40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F024D-CED2-D21A-F747-F39E713D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BBE1-CE10-E849-9B50-BF2B0579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1905-8014-F6A7-DFA7-867B7EC16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End-to-end voice pipeline: browser mic or Asterisk to faster-whisper STT to intent detection to RAG to Coqui TTS.</a:t>
            </a:r>
          </a:p>
          <a:p>
            <a:r>
              <a:rPr lang="en-US" dirty="0"/>
              <a:t>RAG knowledge base over 500-plus bank FAQ PDFs, policy documents, and product sheets.</a:t>
            </a:r>
          </a:p>
          <a:p>
            <a:r>
              <a:rPr lang="en-US" dirty="0"/>
              <a:t>Intent classifier for banking: balance, card block, EMI, NEFT, cheque, FD, and more.</a:t>
            </a:r>
          </a:p>
          <a:p>
            <a:r>
              <a:rPr lang="en-IN" dirty="0"/>
              <a:t>Seamless human escalation</a:t>
            </a:r>
          </a:p>
          <a:p>
            <a:r>
              <a:rPr lang="en-US" dirty="0"/>
              <a:t>Call analytics dashboard: intent distribution, resolution rate, and average handle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75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E0AA-CA16-4B09-B7A9-E838EAE8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E2F5-B829-778F-A471-44B1562B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2290-71D1-3099-EEEE-E5F617219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DTMF keypad fallback for low-network conditions</a:t>
            </a:r>
          </a:p>
          <a:p>
            <a:r>
              <a:rPr lang="en-US" dirty="0"/>
              <a:t>WebSocket-based deployment with Redis session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77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C106-2771-8066-4DD9-49DA5E5A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6223-E67F-DE1F-A9AA-FB1F9E4E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r</a:t>
            </a:r>
            <a:r>
              <a:rPr lang="en-IN" dirty="0" err="1"/>
              <a:t>eal</a:t>
            </a:r>
            <a:r>
              <a:rPr lang="en-IN" dirty="0"/>
              <a:t> banking conversations contain sensitive financial and personally identifiable information. Instead, we can create a synthetic banking customer-support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092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AA13-E3F3-0410-B78B-1B05EA91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Stack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236D29-85BD-3B49-1C9B-18AF6B39F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745460"/>
              </p:ext>
            </p:extLst>
          </p:nvPr>
        </p:nvGraphicFramePr>
        <p:xfrm>
          <a:off x="3868738" y="863600"/>
          <a:ext cx="7315200" cy="559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786">
                  <a:extLst>
                    <a:ext uri="{9D8B030D-6E8A-4147-A177-3AD203B41FA5}">
                      <a16:colId xmlns:a16="http://schemas.microsoft.com/office/drawing/2014/main" val="1694806031"/>
                    </a:ext>
                  </a:extLst>
                </a:gridCol>
                <a:gridCol w="5913414">
                  <a:extLst>
                    <a:ext uri="{9D8B030D-6E8A-4147-A177-3AD203B41FA5}">
                      <a16:colId xmlns:a16="http://schemas.microsoft.com/office/drawing/2014/main" val="91115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  <a:endParaRPr lang="en-IN" dirty="0"/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Free / Open-Source Technology</a:t>
                      </a:r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79604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Call Orchestration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Pipecat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229594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Telephony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Browser WebSocket mic</a:t>
                      </a:r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382171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Speech-to-Text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Whisper large-v3 local inference,</a:t>
                      </a:r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275086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Text-to-Speech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Coqui TTS or Kokoro TTS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196789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Intent Detection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Ollama</a:t>
                      </a:r>
                      <a:r>
                        <a:rPr lang="en-IN" dirty="0"/>
                        <a:t> + Llama 3.1 8B with function calling</a:t>
                      </a:r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94693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RAG Backend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LangChain</a:t>
                      </a:r>
                      <a:r>
                        <a:rPr lang="es-ES" dirty="0"/>
                        <a:t> + </a:t>
                      </a:r>
                      <a:r>
                        <a:rPr lang="es-ES" dirty="0" err="1"/>
                        <a:t>ChromaDB</a:t>
                      </a:r>
                      <a:r>
                        <a:rPr lang="es-ES" dirty="0"/>
                        <a:t> + Ollama Llama 3.1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342826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FastAPI</a:t>
                      </a:r>
                      <a:r>
                        <a:rPr lang="en-IN" dirty="0"/>
                        <a:t>+ </a:t>
                      </a:r>
                      <a:r>
                        <a:rPr lang="en-IN" dirty="0" err="1"/>
                        <a:t>WebSockets</a:t>
                      </a:r>
                      <a:r>
                        <a:rPr lang="en-IN"/>
                        <a:t> + Redis via Docker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425489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Storage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MinIO</a:t>
                      </a:r>
                      <a:r>
                        <a:rPr lang="en-US" dirty="0"/>
                        <a:t> for call recordings + PostgreSQL via Docker for transcripts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317495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Deployment</a:t>
                      </a:r>
                    </a:p>
                  </a:txBody>
                  <a:tcPr marL="63611" marR="6361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Docker Compose local + Nginx WebSocket proxy</a:t>
                      </a:r>
                      <a:endParaRPr lang="en-IN" dirty="0"/>
                    </a:p>
                  </a:txBody>
                  <a:tcPr marL="63611" marR="63611"/>
                </a:tc>
                <a:extLst>
                  <a:ext uri="{0D108BD9-81ED-4DB2-BD59-A6C34878D82A}">
                    <a16:rowId xmlns:a16="http://schemas.microsoft.com/office/drawing/2014/main" val="97494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37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6718-ADAE-5DD0-D3C3-97191383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66B6-F615-2EF9-AA0A-31F9A805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EF839-4C3B-FAD8-41E0-9146E443C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Dhagat</a:t>
            </a:r>
            <a:r>
              <a:rPr lang="en-IN" dirty="0"/>
              <a:t>, N., Dabhi, V. K., Prajapati, H. B., &amp; Barad, Z. J. (2026). Telephony Voice Agent for Banking Services. </a:t>
            </a:r>
            <a:r>
              <a:rPr lang="en-IN" i="1" dirty="0" err="1"/>
              <a:t>arXiv</a:t>
            </a:r>
            <a:r>
              <a:rPr lang="en-IN" i="1" dirty="0"/>
              <a:t> preprint arXiv:2606.28779</a:t>
            </a:r>
            <a:r>
              <a:rPr lang="en-IN" dirty="0"/>
              <a:t>.</a:t>
            </a:r>
          </a:p>
          <a:p>
            <a:r>
              <a:rPr lang="en-IN" dirty="0"/>
              <a:t>Oruganti, S. C. (2020). Virtual bank assistance: An AI based voice bot for better banking. </a:t>
            </a:r>
            <a:r>
              <a:rPr lang="en-IN" i="1" dirty="0"/>
              <a:t>Int J Res</a:t>
            </a:r>
            <a:r>
              <a:rPr lang="en-IN" dirty="0"/>
              <a:t>, </a:t>
            </a:r>
            <a:r>
              <a:rPr lang="en-IN" i="1" dirty="0"/>
              <a:t>9</a:t>
            </a:r>
            <a:r>
              <a:rPr lang="en-IN" dirty="0"/>
              <a:t>(1), 177-83.</a:t>
            </a:r>
          </a:p>
          <a:p>
            <a:r>
              <a:rPr lang="en-IN" dirty="0" err="1"/>
              <a:t>Dhagat</a:t>
            </a:r>
            <a:r>
              <a:rPr lang="en-IN" dirty="0"/>
              <a:t>, N., Dabhi, V. K., Prajapati, H. B., &amp; Barad, Z. J. (2026). Telephony Voice Agent for Banking Services. </a:t>
            </a:r>
            <a:r>
              <a:rPr lang="en-IN" i="1" dirty="0" err="1"/>
              <a:t>arXiv</a:t>
            </a:r>
            <a:r>
              <a:rPr lang="en-IN" i="1" dirty="0"/>
              <a:t> preprint arXiv:2606.28779</a:t>
            </a:r>
            <a:r>
              <a:rPr lang="en-IN" dirty="0"/>
              <a:t>.</a:t>
            </a:r>
          </a:p>
          <a:p>
            <a:r>
              <a:rPr lang="en-IN" dirty="0"/>
              <a:t>Inala, R., &amp; Somu, B. (2024). Agentic ai in retail banking: Redefining customer service and financial decision-making. </a:t>
            </a:r>
            <a:r>
              <a:rPr lang="en-IN" i="1" dirty="0"/>
              <a:t>Journal of Artificial Intelligence and Big Data Disciplines</a:t>
            </a:r>
            <a:r>
              <a:rPr lang="en-IN" dirty="0"/>
              <a:t>, </a:t>
            </a:r>
            <a:r>
              <a:rPr lang="en-IN" i="1" dirty="0"/>
              <a:t>1</a:t>
            </a:r>
            <a:r>
              <a:rPr lang="en-IN" dirty="0"/>
              <a:t>(1), 1-19.</a:t>
            </a:r>
          </a:p>
        </p:txBody>
      </p:sp>
    </p:spTree>
    <p:extLst>
      <p:ext uri="{BB962C8B-B14F-4D97-AF65-F5344CB8AC3E}">
        <p14:creationId xmlns:p14="http://schemas.microsoft.com/office/powerpoint/2010/main" val="177192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3310-BFD8-56C2-B5E3-B50C2509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9C44-C673-B546-047A-419DB722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67ABA-FE02-2AAE-62FB-B8598B670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Sunkara, V. L. B., &amp; Dhanasekaran, S. Transforming Mobile Banking with Conversational AI and Voice Recognition.</a:t>
            </a:r>
          </a:p>
          <a:p>
            <a:r>
              <a:rPr lang="en-IN" dirty="0"/>
              <a:t>Inala, R., &amp; Somu, B. (2025). Building trustworthy agentic AI systems for personalized banking experiences. </a:t>
            </a:r>
            <a:r>
              <a:rPr lang="en-IN" i="1" dirty="0"/>
              <a:t>Metallurgical and Materials Engineering</a:t>
            </a:r>
            <a:r>
              <a:rPr lang="en-IN" dirty="0"/>
              <a:t>, </a:t>
            </a:r>
            <a:r>
              <a:rPr lang="en-IN" i="1" dirty="0"/>
              <a:t>31</a:t>
            </a:r>
            <a:r>
              <a:rPr lang="en-IN" dirty="0"/>
              <a:t>(5), 1336-1360.</a:t>
            </a:r>
          </a:p>
          <a:p>
            <a:r>
              <a:rPr lang="en-IN" dirty="0"/>
              <a:t>Singh, P. (2025). Leveraging AI for Real-Time Customer Support in Telecommunications.</a:t>
            </a:r>
          </a:p>
          <a:p>
            <a:r>
              <a:rPr lang="en-IN" dirty="0"/>
              <a:t>Chugh, S., &amp; Pondal, P. (2025). Human-Computer Interaction with Voice-Driven AI Chatbots. </a:t>
            </a:r>
            <a:r>
              <a:rPr lang="en-IN" i="1" dirty="0"/>
              <a:t>Int. J. Sci. Res. Eng. Manag.</a:t>
            </a:r>
            <a:r>
              <a:rPr lang="en-IN" dirty="0"/>
              <a:t>, </a:t>
            </a:r>
            <a:r>
              <a:rPr lang="en-IN" i="1" dirty="0"/>
              <a:t>9</a:t>
            </a:r>
            <a:r>
              <a:rPr lang="en-IN" dirty="0"/>
              <a:t>(05), 1-9.</a:t>
            </a:r>
          </a:p>
        </p:txBody>
      </p:sp>
    </p:spTree>
    <p:extLst>
      <p:ext uri="{BB962C8B-B14F-4D97-AF65-F5344CB8AC3E}">
        <p14:creationId xmlns:p14="http://schemas.microsoft.com/office/powerpoint/2010/main" val="358188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664E-6C7F-ED31-C5F2-AC6154D4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4CBD-3BCE-AB1C-B7A0-55AF3478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ED03-0DBC-E411-C1AF-CE18EC852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Anand, L. G. (2025). From Voice to Value: The Expanding Role of AI in Communication and Financial Services.</a:t>
            </a:r>
          </a:p>
          <a:p>
            <a:r>
              <a:rPr lang="en-IN" dirty="0" err="1"/>
              <a:t>Chitraju</a:t>
            </a:r>
            <a:r>
              <a:rPr lang="en-IN" dirty="0"/>
              <a:t>, S. (2025). Smart Systems, Smarter Decisions: AI Applications in Voice Recognition, User Support, and Financial Services. </a:t>
            </a:r>
            <a:r>
              <a:rPr lang="en-IN" i="1" dirty="0"/>
              <a:t>Smarter Decisions: AI Applications in Voice Recognition, User Support, and Financial Services (August 18, 2025)</a:t>
            </a:r>
            <a:r>
              <a:rPr lang="en-IN" dirty="0"/>
              <a:t>.</a:t>
            </a:r>
          </a:p>
          <a:p>
            <a:r>
              <a:rPr lang="en-IN" dirty="0" err="1"/>
              <a:t>Henkens</a:t>
            </a:r>
            <a:r>
              <a:rPr lang="en-IN" dirty="0"/>
              <a:t>, B., Schultz, C. D., De Keyser, A., &amp; Mahr, D. (2026). The sound of progress: AI voice agents in service. </a:t>
            </a:r>
            <a:r>
              <a:rPr lang="en-IN" i="1" dirty="0"/>
              <a:t>Journal of Service Management</a:t>
            </a:r>
            <a:r>
              <a:rPr lang="en-IN" dirty="0"/>
              <a:t>, </a:t>
            </a:r>
            <a:r>
              <a:rPr lang="en-IN" i="1" dirty="0"/>
              <a:t>37</a:t>
            </a:r>
            <a:r>
              <a:rPr lang="en-IN" dirty="0"/>
              <a:t>(1), 1-32.</a:t>
            </a:r>
          </a:p>
          <a:p>
            <a:r>
              <a:rPr lang="en-IN" dirty="0"/>
              <a:t>Parthiban, E. S., &amp; Adil, M. (2023). Trends in the AI-based banking conversational agents literature: a bibliometric review. </a:t>
            </a:r>
            <a:r>
              <a:rPr lang="en-IN" i="1" dirty="0"/>
              <a:t>Asia pacific journal of information systems</a:t>
            </a:r>
            <a:r>
              <a:rPr lang="en-IN" dirty="0"/>
              <a:t>, </a:t>
            </a:r>
            <a:r>
              <a:rPr lang="en-IN" i="1" dirty="0"/>
              <a:t>33</a:t>
            </a:r>
            <a:r>
              <a:rPr lang="en-IN" dirty="0"/>
              <a:t>(3), 702-736.</a:t>
            </a:r>
          </a:p>
        </p:txBody>
      </p:sp>
    </p:spTree>
    <p:extLst>
      <p:ext uri="{BB962C8B-B14F-4D97-AF65-F5344CB8AC3E}">
        <p14:creationId xmlns:p14="http://schemas.microsoft.com/office/powerpoint/2010/main" val="5289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C10E-BAA4-0871-F56B-4D6EB74A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92DC-C61C-3B18-D742-1900F41B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E86E-AFC8-8DF6-B6AB-4A95D13DA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Mastrandrea, M. (2024). </a:t>
            </a:r>
            <a:r>
              <a:rPr lang="en-IN" i="1" dirty="0"/>
              <a:t>Developing an AI-Powered Voice Assistant for an iOS Payment App</a:t>
            </a:r>
            <a:r>
              <a:rPr lang="en-IN" dirty="0"/>
              <a:t> (Doctoral dissertation, </a:t>
            </a:r>
            <a:r>
              <a:rPr lang="en-IN" dirty="0" err="1"/>
              <a:t>Politecnico</a:t>
            </a:r>
            <a:r>
              <a:rPr lang="en-IN" dirty="0"/>
              <a:t> di Torino).</a:t>
            </a:r>
          </a:p>
          <a:p>
            <a:r>
              <a:rPr lang="en-IN" dirty="0"/>
              <a:t>Doherty, D., &amp; Curran, K. (2019, December). Chatbots for online banking services. In </a:t>
            </a:r>
            <a:r>
              <a:rPr lang="en-IN" i="1" dirty="0"/>
              <a:t>Web Intelligence</a:t>
            </a:r>
            <a:r>
              <a:rPr lang="en-IN" dirty="0"/>
              <a:t> (Vol. 17, No. 4, pp. 327-342). Sage UK: London, England: SAGE Publications.</a:t>
            </a:r>
          </a:p>
          <a:p>
            <a:r>
              <a:rPr lang="en-IN" dirty="0"/>
              <a:t>Paul, V. (2025). Voice AI Agents: The Technical Backbone of Modern Speech Interfaces. </a:t>
            </a:r>
            <a:r>
              <a:rPr lang="en-IN" i="1" dirty="0"/>
              <a:t>Journal Of Multidisciplinary</a:t>
            </a:r>
            <a:r>
              <a:rPr lang="en-IN" dirty="0"/>
              <a:t>, </a:t>
            </a:r>
            <a:r>
              <a:rPr lang="en-IN" i="1" dirty="0"/>
              <a:t>5</a:t>
            </a:r>
            <a:r>
              <a:rPr lang="en-IN" dirty="0"/>
              <a:t>(7), 610-617.</a:t>
            </a:r>
          </a:p>
        </p:txBody>
      </p:sp>
    </p:spTree>
    <p:extLst>
      <p:ext uri="{BB962C8B-B14F-4D97-AF65-F5344CB8AC3E}">
        <p14:creationId xmlns:p14="http://schemas.microsoft.com/office/powerpoint/2010/main" val="383379812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180</TotalTime>
  <Words>810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Corbel</vt:lpstr>
      <vt:lpstr>Wingdings 2</vt:lpstr>
      <vt:lpstr>Frame</vt:lpstr>
      <vt:lpstr>Real-Time Voice AI Agent for Banking Support</vt:lpstr>
      <vt:lpstr>Problem Statement</vt:lpstr>
      <vt:lpstr>Solution Overview</vt:lpstr>
      <vt:lpstr>Objectives</vt:lpstr>
      <vt:lpstr>Objectives</vt:lpstr>
      <vt:lpstr>Dataset</vt:lpstr>
      <vt:lpstr>Technical Stack</vt:lpstr>
      <vt:lpstr>Citations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Arora</dc:creator>
  <cp:lastModifiedBy>Aryan Arora</cp:lastModifiedBy>
  <cp:revision>2</cp:revision>
  <dcterms:created xsi:type="dcterms:W3CDTF">2026-08-23T17:02:43Z</dcterms:created>
  <dcterms:modified xsi:type="dcterms:W3CDTF">2026-08-28T04:01:53Z</dcterms:modified>
</cp:coreProperties>
</file>