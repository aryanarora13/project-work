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0" r:id="rId1"/>
  </p:sldMasterIdLst>
  <p:sldIdLst>
    <p:sldId id="256" r:id="rId2"/>
    <p:sldId id="268" r:id="rId3"/>
    <p:sldId id="269" r:id="rId4"/>
    <p:sldId id="266" r:id="rId5"/>
    <p:sldId id="267" r:id="rId6"/>
    <p:sldId id="262" r:id="rId7"/>
    <p:sldId id="258" r:id="rId8"/>
    <p:sldId id="259" r:id="rId9"/>
    <p:sldId id="260"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462257B-BBBF-49CD-A5DD-C3850C73CE74}" v="22" dt="2026-08-27T13:45:32.717"/>
    <p1510:client id="{FE4B861C-592A-455A-B092-D6E87EE04346}" v="1" dt="2026-08-27T17:59:51.3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4" d="100"/>
          <a:sy n="64" d="100"/>
        </p:scale>
        <p:origin x="954"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ryan Arora" userId="b787227e2ec070f4" providerId="LiveId" clId="{A65BE4C5-78DA-47DB-89A3-56F4EE9C9206}"/>
    <pc:docChg chg="undo custSel addSld modSld">
      <pc:chgData name="Aryan Arora" userId="b787227e2ec070f4" providerId="LiveId" clId="{A65BE4C5-78DA-47DB-89A3-56F4EE9C9206}" dt="2026-08-27T17:59:51.271" v="240"/>
      <pc:docMkLst>
        <pc:docMk/>
      </pc:docMkLst>
      <pc:sldChg chg="modSp new">
        <pc:chgData name="Aryan Arora" userId="b787227e2ec070f4" providerId="LiveId" clId="{A65BE4C5-78DA-47DB-89A3-56F4EE9C9206}" dt="2026-08-23T18:20:21.570" v="165"/>
        <pc:sldMkLst>
          <pc:docMk/>
          <pc:sldMk cId="2511129951" sldId="256"/>
        </pc:sldMkLst>
        <pc:spChg chg="mod">
          <ac:chgData name="Aryan Arora" userId="b787227e2ec070f4" providerId="LiveId" clId="{A65BE4C5-78DA-47DB-89A3-56F4EE9C9206}" dt="2026-08-23T18:20:21.570" v="165"/>
          <ac:spMkLst>
            <pc:docMk/>
            <pc:sldMk cId="2511129951" sldId="256"/>
            <ac:spMk id="2" creationId="{1A95EE6D-205B-0269-7345-B80B16FCED1E}"/>
          </ac:spMkLst>
        </pc:spChg>
      </pc:sldChg>
      <pc:sldChg chg="modSp new mod">
        <pc:chgData name="Aryan Arora" userId="b787227e2ec070f4" providerId="LiveId" clId="{A65BE4C5-78DA-47DB-89A3-56F4EE9C9206}" dt="2026-08-23T18:17:27.782" v="120" actId="20577"/>
        <pc:sldMkLst>
          <pc:docMk/>
          <pc:sldMk cId="2470409146" sldId="257"/>
        </pc:sldMkLst>
        <pc:spChg chg="mod">
          <ac:chgData name="Aryan Arora" userId="b787227e2ec070f4" providerId="LiveId" clId="{A65BE4C5-78DA-47DB-89A3-56F4EE9C9206}" dt="2026-08-23T18:17:13.118" v="109" actId="20577"/>
          <ac:spMkLst>
            <pc:docMk/>
            <pc:sldMk cId="2470409146" sldId="257"/>
            <ac:spMk id="2" creationId="{962169DA-6F6C-52CA-596D-C7792DC2075A}"/>
          </ac:spMkLst>
        </pc:spChg>
        <pc:spChg chg="mod">
          <ac:chgData name="Aryan Arora" userId="b787227e2ec070f4" providerId="LiveId" clId="{A65BE4C5-78DA-47DB-89A3-56F4EE9C9206}" dt="2026-08-23T18:17:27.782" v="120" actId="20577"/>
          <ac:spMkLst>
            <pc:docMk/>
            <pc:sldMk cId="2470409146" sldId="257"/>
            <ac:spMk id="3" creationId="{DF8CC0C6-7675-AE22-8160-0E0C3991D8E6}"/>
          </ac:spMkLst>
        </pc:spChg>
      </pc:sldChg>
      <pc:sldChg chg="modSp add mod">
        <pc:chgData name="Aryan Arora" userId="b787227e2ec070f4" providerId="LiveId" clId="{A65BE4C5-78DA-47DB-89A3-56F4EE9C9206}" dt="2026-08-23T17:31:21.320" v="20"/>
        <pc:sldMkLst>
          <pc:docMk/>
          <pc:sldMk cId="3581882527" sldId="258"/>
        </pc:sldMkLst>
        <pc:spChg chg="mod">
          <ac:chgData name="Aryan Arora" userId="b787227e2ec070f4" providerId="LiveId" clId="{A65BE4C5-78DA-47DB-89A3-56F4EE9C9206}" dt="2026-08-23T17:31:21.320" v="20"/>
          <ac:spMkLst>
            <pc:docMk/>
            <pc:sldMk cId="3581882527" sldId="258"/>
            <ac:spMk id="3" creationId="{91C67ABA-FE02-2AAE-62FB-B8598B670EAE}"/>
          </ac:spMkLst>
        </pc:spChg>
      </pc:sldChg>
      <pc:sldChg chg="modSp add mod">
        <pc:chgData name="Aryan Arora" userId="b787227e2ec070f4" providerId="LiveId" clId="{A65BE4C5-78DA-47DB-89A3-56F4EE9C9206}" dt="2026-08-23T17:53:08.874" v="29" actId="27636"/>
        <pc:sldMkLst>
          <pc:docMk/>
          <pc:sldMk cId="52899601" sldId="259"/>
        </pc:sldMkLst>
        <pc:spChg chg="mod">
          <ac:chgData name="Aryan Arora" userId="b787227e2ec070f4" providerId="LiveId" clId="{A65BE4C5-78DA-47DB-89A3-56F4EE9C9206}" dt="2026-08-23T17:53:08.874" v="29" actId="27636"/>
          <ac:spMkLst>
            <pc:docMk/>
            <pc:sldMk cId="52899601" sldId="259"/>
            <ac:spMk id="3" creationId="{85BBED03-0DBC-E411-C1AF-CE18EC85272F}"/>
          </ac:spMkLst>
        </pc:spChg>
      </pc:sldChg>
      <pc:sldChg chg="modSp add mod">
        <pc:chgData name="Aryan Arora" userId="b787227e2ec070f4" providerId="LiveId" clId="{A65BE4C5-78DA-47DB-89A3-56F4EE9C9206}" dt="2026-08-23T18:08:05.602" v="37"/>
        <pc:sldMkLst>
          <pc:docMk/>
          <pc:sldMk cId="3833798129" sldId="260"/>
        </pc:sldMkLst>
        <pc:spChg chg="mod">
          <ac:chgData name="Aryan Arora" userId="b787227e2ec070f4" providerId="LiveId" clId="{A65BE4C5-78DA-47DB-89A3-56F4EE9C9206}" dt="2026-08-23T18:08:05.602" v="37"/>
          <ac:spMkLst>
            <pc:docMk/>
            <pc:sldMk cId="3833798129" sldId="260"/>
            <ac:spMk id="3" creationId="{EF2EE86E-AFC8-8DF6-B6AB-4A95D13DACF1}"/>
          </ac:spMkLst>
        </pc:spChg>
      </pc:sldChg>
      <pc:sldChg chg="modSp new mod">
        <pc:chgData name="Aryan Arora" userId="b787227e2ec070f4" providerId="LiveId" clId="{A65BE4C5-78DA-47DB-89A3-56F4EE9C9206}" dt="2026-08-23T18:11:40.547" v="74" actId="20577"/>
        <pc:sldMkLst>
          <pc:docMk/>
          <pc:sldMk cId="1465024936" sldId="261"/>
        </pc:sldMkLst>
        <pc:spChg chg="mod">
          <ac:chgData name="Aryan Arora" userId="b787227e2ec070f4" providerId="LiveId" clId="{A65BE4C5-78DA-47DB-89A3-56F4EE9C9206}" dt="2026-08-23T18:11:01.392" v="57" actId="20577"/>
          <ac:spMkLst>
            <pc:docMk/>
            <pc:sldMk cId="1465024936" sldId="261"/>
            <ac:spMk id="2" creationId="{197290E7-4F72-0E25-6210-7215851EABB0}"/>
          </ac:spMkLst>
        </pc:spChg>
        <pc:spChg chg="mod">
          <ac:chgData name="Aryan Arora" userId="b787227e2ec070f4" providerId="LiveId" clId="{A65BE4C5-78DA-47DB-89A3-56F4EE9C9206}" dt="2026-08-23T18:11:40.547" v="74" actId="20577"/>
          <ac:spMkLst>
            <pc:docMk/>
            <pc:sldMk cId="1465024936" sldId="261"/>
            <ac:spMk id="3" creationId="{3C88FDA5-DD38-F62F-E6EF-34577DDF65FE}"/>
          </ac:spMkLst>
        </pc:spChg>
      </pc:sldChg>
      <pc:sldChg chg="add">
        <pc:chgData name="Aryan Arora" userId="b787227e2ec070f4" providerId="LiveId" clId="{A65BE4C5-78DA-47DB-89A3-56F4EE9C9206}" dt="2026-08-23T18:15:29.006" v="84" actId="2890"/>
        <pc:sldMkLst>
          <pc:docMk/>
          <pc:sldMk cId="1771925662" sldId="262"/>
        </pc:sldMkLst>
      </pc:sldChg>
      <pc:sldChg chg="modSp add mod">
        <pc:chgData name="Aryan Arora" userId="b787227e2ec070f4" providerId="LiveId" clId="{A65BE4C5-78DA-47DB-89A3-56F4EE9C9206}" dt="2026-08-23T18:19:32.856" v="160"/>
        <pc:sldMkLst>
          <pc:docMk/>
          <pc:sldMk cId="3162752367" sldId="263"/>
        </pc:sldMkLst>
        <pc:spChg chg="mod">
          <ac:chgData name="Aryan Arora" userId="b787227e2ec070f4" providerId="LiveId" clId="{A65BE4C5-78DA-47DB-89A3-56F4EE9C9206}" dt="2026-08-23T18:18:42.789" v="149" actId="20577"/>
          <ac:spMkLst>
            <pc:docMk/>
            <pc:sldMk cId="3162752367" sldId="263"/>
            <ac:spMk id="2" creationId="{196ABBE1-CE10-E849-9B50-BF2B057982FB}"/>
          </ac:spMkLst>
        </pc:spChg>
        <pc:spChg chg="mod">
          <ac:chgData name="Aryan Arora" userId="b787227e2ec070f4" providerId="LiveId" clId="{A65BE4C5-78DA-47DB-89A3-56F4EE9C9206}" dt="2026-08-23T18:19:32.856" v="160"/>
          <ac:spMkLst>
            <pc:docMk/>
            <pc:sldMk cId="3162752367" sldId="263"/>
            <ac:spMk id="3" creationId="{33F11905-8014-F6A7-DFA7-867B7EC16577}"/>
          </ac:spMkLst>
        </pc:spChg>
      </pc:sldChg>
      <pc:sldChg chg="modSp add mod">
        <pc:chgData name="Aryan Arora" userId="b787227e2ec070f4" providerId="LiveId" clId="{A65BE4C5-78DA-47DB-89A3-56F4EE9C9206}" dt="2026-08-23T18:19:59.854" v="164"/>
        <pc:sldMkLst>
          <pc:docMk/>
          <pc:sldMk cId="2690772527" sldId="264"/>
        </pc:sldMkLst>
        <pc:spChg chg="mod">
          <ac:chgData name="Aryan Arora" userId="b787227e2ec070f4" providerId="LiveId" clId="{A65BE4C5-78DA-47DB-89A3-56F4EE9C9206}" dt="2026-08-23T18:19:59.854" v="164"/>
          <ac:spMkLst>
            <pc:docMk/>
            <pc:sldMk cId="2690772527" sldId="264"/>
            <ac:spMk id="3" creationId="{795B2290-71D1-3099-EEEE-E5F617219C7A}"/>
          </ac:spMkLst>
        </pc:spChg>
      </pc:sldChg>
      <pc:sldChg chg="modSp new mod">
        <pc:chgData name="Aryan Arora" userId="b787227e2ec070f4" providerId="LiveId" clId="{A65BE4C5-78DA-47DB-89A3-56F4EE9C9206}" dt="2026-08-27T12:46:56.266" v="191" actId="113"/>
        <pc:sldMkLst>
          <pc:docMk/>
          <pc:sldMk cId="4292092617" sldId="265"/>
        </pc:sldMkLst>
        <pc:spChg chg="mod">
          <ac:chgData name="Aryan Arora" userId="b787227e2ec070f4" providerId="LiveId" clId="{A65BE4C5-78DA-47DB-89A3-56F4EE9C9206}" dt="2026-08-27T12:46:08.690" v="173" actId="20577"/>
          <ac:spMkLst>
            <pc:docMk/>
            <pc:sldMk cId="4292092617" sldId="265"/>
            <ac:spMk id="2" creationId="{008EC106-2771-8066-4DD9-49DA5E5A541D}"/>
          </ac:spMkLst>
        </pc:spChg>
        <pc:spChg chg="mod">
          <ac:chgData name="Aryan Arora" userId="b787227e2ec070f4" providerId="LiveId" clId="{A65BE4C5-78DA-47DB-89A3-56F4EE9C9206}" dt="2026-08-27T12:46:56.266" v="191" actId="113"/>
          <ac:spMkLst>
            <pc:docMk/>
            <pc:sldMk cId="4292092617" sldId="265"/>
            <ac:spMk id="3" creationId="{90066223-E67F-DE1F-A9AA-FB1F9E4E7066}"/>
          </ac:spMkLst>
        </pc:spChg>
      </pc:sldChg>
      <pc:sldChg chg="addSp delSp modSp new mod">
        <pc:chgData name="Aryan Arora" userId="b787227e2ec070f4" providerId="LiveId" clId="{A65BE4C5-78DA-47DB-89A3-56F4EE9C9206}" dt="2026-08-27T17:59:51.271" v="240"/>
        <pc:sldMkLst>
          <pc:docMk/>
          <pc:sldMk cId="2385373051" sldId="266"/>
        </pc:sldMkLst>
        <pc:spChg chg="mod">
          <ac:chgData name="Aryan Arora" userId="b787227e2ec070f4" providerId="LiveId" clId="{A65BE4C5-78DA-47DB-89A3-56F4EE9C9206}" dt="2026-08-27T13:41:26.690" v="207" actId="20577"/>
          <ac:spMkLst>
            <pc:docMk/>
            <pc:sldMk cId="2385373051" sldId="266"/>
            <ac:spMk id="2" creationId="{89CAAA13-E3F3-0410-B78B-1B05EA91B141}"/>
          </ac:spMkLst>
        </pc:spChg>
        <pc:spChg chg="del">
          <ac:chgData name="Aryan Arora" userId="b787227e2ec070f4" providerId="LiveId" clId="{A65BE4C5-78DA-47DB-89A3-56F4EE9C9206}" dt="2026-08-27T13:41:56.741" v="208" actId="3680"/>
          <ac:spMkLst>
            <pc:docMk/>
            <pc:sldMk cId="2385373051" sldId="266"/>
            <ac:spMk id="3" creationId="{476A85E3-240C-BC49-33F1-10C2A164AF16}"/>
          </ac:spMkLst>
        </pc:spChg>
        <pc:graphicFrameChg chg="add mod ord modGraphic">
          <ac:chgData name="Aryan Arora" userId="b787227e2ec070f4" providerId="LiveId" clId="{A65BE4C5-78DA-47DB-89A3-56F4EE9C9206}" dt="2026-08-27T17:59:51.271" v="240"/>
          <ac:graphicFrameMkLst>
            <pc:docMk/>
            <pc:sldMk cId="2385373051" sldId="266"/>
            <ac:graphicFrameMk id="4" creationId="{AD236D29-85BD-3B49-1C9B-18AF6B39FF92}"/>
          </ac:graphicFrameMkLst>
        </pc:graphicFrame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0" y="761999"/>
            <a:ext cx="9141619" cy="5334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8" name="Rectangle 7"/>
          <p:cNvSpPr/>
          <p:nvPr/>
        </p:nvSpPr>
        <p:spPr>
          <a:xfrm>
            <a:off x="9270263" y="761999"/>
            <a:ext cx="2925318" cy="5334001"/>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p:cNvSpPr>
            <a:spLocks noGrp="1"/>
          </p:cNvSpPr>
          <p:nvPr>
            <p:ph type="ctrTitle"/>
          </p:nvPr>
        </p:nvSpPr>
        <p:spPr>
          <a:xfrm>
            <a:off x="1069848" y="1298448"/>
            <a:ext cx="7315200" cy="3255264"/>
          </a:xfrm>
        </p:spPr>
        <p:txBody>
          <a:bodyPr anchor="b">
            <a:normAutofit/>
          </a:bodyPr>
          <a:lstStyle>
            <a:lvl1pPr algn="l">
              <a:defRPr sz="5900" spc="-100" baseline="0">
                <a:solidFill>
                  <a:srgbClr val="FFFFFF"/>
                </a:solidFill>
              </a:defRPr>
            </a:lvl1pPr>
          </a:lstStyle>
          <a:p>
            <a:r>
              <a:rPr lang="en-GB"/>
              <a:t>Click to edit Master title style</a:t>
            </a:r>
            <a:endParaRPr lang="en-US" dirty="0"/>
          </a:p>
        </p:txBody>
      </p:sp>
      <p:sp>
        <p:nvSpPr>
          <p:cNvPr id="3" name="Subtitle 2"/>
          <p:cNvSpPr>
            <a:spLocks noGrp="1"/>
          </p:cNvSpPr>
          <p:nvPr>
            <p:ph type="subTitle" idx="1"/>
          </p:nvPr>
        </p:nvSpPr>
        <p:spPr>
          <a:xfrm>
            <a:off x="1100015" y="4670246"/>
            <a:ext cx="7315200" cy="914400"/>
          </a:xfrm>
        </p:spPr>
        <p:txBody>
          <a:bodyPr anchor="t">
            <a:normAutofit/>
          </a:bodyPr>
          <a:lstStyle>
            <a:lvl1pPr marL="0" indent="0" algn="l">
              <a:buNone/>
              <a:defRPr sz="2200" cap="none" spc="0" baseline="0">
                <a:solidFill>
                  <a:schemeClr val="accent1">
                    <a:lumMod val="20000"/>
                    <a:lumOff val="80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3E594C3D-A39B-4310-B7FD-B60219990675}" type="datetimeFigureOut">
              <a:rPr lang="en-IN" smtClean="0"/>
              <a:t>28-08-2026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AC6D172C-3A65-4680-AAFB-A052EB12D54D}" type="slidenum">
              <a:rPr lang="en-IN" smtClean="0"/>
              <a:t>‹#›</a:t>
            </a:fld>
            <a:endParaRPr lang="en-IN"/>
          </a:p>
        </p:txBody>
      </p:sp>
    </p:spTree>
    <p:extLst>
      <p:ext uri="{BB962C8B-B14F-4D97-AF65-F5344CB8AC3E}">
        <p14:creationId xmlns:p14="http://schemas.microsoft.com/office/powerpoint/2010/main" val="2387062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3E594C3D-A39B-4310-B7FD-B60219990675}" type="datetimeFigureOut">
              <a:rPr lang="en-IN" smtClean="0"/>
              <a:t>28-08-2026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AC6D172C-3A65-4680-AAFB-A052EB12D54D}" type="slidenum">
              <a:rPr lang="en-IN" smtClean="0"/>
              <a:t>‹#›</a:t>
            </a:fld>
            <a:endParaRPr lang="en-IN"/>
          </a:p>
        </p:txBody>
      </p:sp>
    </p:spTree>
    <p:extLst>
      <p:ext uri="{BB962C8B-B14F-4D97-AF65-F5344CB8AC3E}">
        <p14:creationId xmlns:p14="http://schemas.microsoft.com/office/powerpoint/2010/main" val="4506622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867912" y="1298448"/>
            <a:ext cx="7315200" cy="3255264"/>
          </a:xfrm>
        </p:spPr>
        <p:txBody>
          <a:bodyPr anchor="b">
            <a:normAutofit/>
          </a:bodyPr>
          <a:lstStyle>
            <a:lvl1pPr>
              <a:defRPr sz="5900" b="0" spc="-100" baseline="0">
                <a:solidFill>
                  <a:schemeClr val="tx1">
                    <a:lumMod val="65000"/>
                    <a:lumOff val="35000"/>
                  </a:schemeClr>
                </a:solidFill>
              </a:defRPr>
            </a:lvl1pPr>
          </a:lstStyle>
          <a:p>
            <a:r>
              <a:rPr lang="en-GB"/>
              <a:t>Click to edit Master title style</a:t>
            </a:r>
            <a:endParaRPr lang="en-US" dirty="0"/>
          </a:p>
        </p:txBody>
      </p:sp>
      <p:sp>
        <p:nvSpPr>
          <p:cNvPr id="3" name="Text Placeholder 2"/>
          <p:cNvSpPr>
            <a:spLocks noGrp="1"/>
          </p:cNvSpPr>
          <p:nvPr>
            <p:ph type="body" idx="1"/>
          </p:nvPr>
        </p:nvSpPr>
        <p:spPr>
          <a:xfrm>
            <a:off x="3886200" y="4672584"/>
            <a:ext cx="7315200" cy="914400"/>
          </a:xfrm>
        </p:spPr>
        <p:txBody>
          <a:bodyPr anchor="t">
            <a:normAutofit/>
          </a:bodyPr>
          <a:lstStyle>
            <a:lvl1pPr marL="0" indent="0">
              <a:buNone/>
              <a:defRPr sz="2200" cap="none" spc="0" baseline="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3E594C3D-A39B-4310-B7FD-B60219990675}" type="datetimeFigureOut">
              <a:rPr lang="en-IN" smtClean="0"/>
              <a:t>28-08-2026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AC6D172C-3A65-4680-AAFB-A052EB12D54D}" type="slidenum">
              <a:rPr lang="en-IN" smtClean="0"/>
              <a:t>‹#›</a:t>
            </a:fld>
            <a:endParaRPr lang="en-IN"/>
          </a:p>
        </p:txBody>
      </p:sp>
    </p:spTree>
    <p:extLst>
      <p:ext uri="{BB962C8B-B14F-4D97-AF65-F5344CB8AC3E}">
        <p14:creationId xmlns:p14="http://schemas.microsoft.com/office/powerpoint/2010/main" val="39108769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3867912"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7818120"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8" name="Date Placeholder 7"/>
          <p:cNvSpPr>
            <a:spLocks noGrp="1"/>
          </p:cNvSpPr>
          <p:nvPr>
            <p:ph type="dt" sz="half" idx="10"/>
          </p:nvPr>
        </p:nvSpPr>
        <p:spPr/>
        <p:txBody>
          <a:bodyPr/>
          <a:lstStyle/>
          <a:p>
            <a:fld id="{3E594C3D-A39B-4310-B7FD-B60219990675}" type="datetimeFigureOut">
              <a:rPr lang="en-IN" smtClean="0"/>
              <a:t>28-08-2026</a:t>
            </a:fld>
            <a:endParaRPr lang="en-IN"/>
          </a:p>
        </p:txBody>
      </p:sp>
      <p:sp>
        <p:nvSpPr>
          <p:cNvPr id="9" name="Footer Placeholder 8"/>
          <p:cNvSpPr>
            <a:spLocks noGrp="1"/>
          </p:cNvSpPr>
          <p:nvPr>
            <p:ph type="ftr" sz="quarter" idx="11"/>
          </p:nvPr>
        </p:nvSpPr>
        <p:spPr/>
        <p:txBody>
          <a:bodyPr/>
          <a:lstStyle/>
          <a:p>
            <a:endParaRPr lang="en-IN"/>
          </a:p>
        </p:txBody>
      </p:sp>
      <p:sp>
        <p:nvSpPr>
          <p:cNvPr id="10" name="Slide Number Placeholder 9"/>
          <p:cNvSpPr>
            <a:spLocks noGrp="1"/>
          </p:cNvSpPr>
          <p:nvPr>
            <p:ph type="sldNum" sz="quarter" idx="12"/>
          </p:nvPr>
        </p:nvSpPr>
        <p:spPr/>
        <p:txBody>
          <a:bodyPr/>
          <a:lstStyle/>
          <a:p>
            <a:fld id="{AC6D172C-3A65-4680-AAFB-A052EB12D54D}" type="slidenum">
              <a:rPr lang="en-IN" smtClean="0"/>
              <a:t>‹#›</a:t>
            </a:fld>
            <a:endParaRPr lang="en-IN"/>
          </a:p>
        </p:txBody>
      </p:sp>
    </p:spTree>
    <p:extLst>
      <p:ext uri="{BB962C8B-B14F-4D97-AF65-F5344CB8AC3E}">
        <p14:creationId xmlns:p14="http://schemas.microsoft.com/office/powerpoint/2010/main" val="7291793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GB"/>
              <a:t>Click to edit Master title style</a:t>
            </a:r>
            <a:endParaRPr lang="en-US" dirty="0"/>
          </a:p>
        </p:txBody>
      </p:sp>
      <p:sp>
        <p:nvSpPr>
          <p:cNvPr id="3" name="Text Placeholder 2"/>
          <p:cNvSpPr>
            <a:spLocks noGrp="1"/>
          </p:cNvSpPr>
          <p:nvPr>
            <p:ph type="body" idx="1"/>
          </p:nvPr>
        </p:nvSpPr>
        <p:spPr>
          <a:xfrm>
            <a:off x="3867912" y="1023586"/>
            <a:ext cx="3474720" cy="807720"/>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3867912"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7818463" y="1023586"/>
            <a:ext cx="3474720" cy="813171"/>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7818463"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2" name="Date Placeholder 1"/>
          <p:cNvSpPr>
            <a:spLocks noGrp="1"/>
          </p:cNvSpPr>
          <p:nvPr>
            <p:ph type="dt" sz="half" idx="10"/>
          </p:nvPr>
        </p:nvSpPr>
        <p:spPr/>
        <p:txBody>
          <a:bodyPr/>
          <a:lstStyle/>
          <a:p>
            <a:fld id="{3E594C3D-A39B-4310-B7FD-B60219990675}" type="datetimeFigureOut">
              <a:rPr lang="en-IN" smtClean="0"/>
              <a:t>28-08-2026</a:t>
            </a:fld>
            <a:endParaRPr lang="en-IN"/>
          </a:p>
        </p:txBody>
      </p:sp>
      <p:sp>
        <p:nvSpPr>
          <p:cNvPr id="11" name="Footer Placeholder 10"/>
          <p:cNvSpPr>
            <a:spLocks noGrp="1"/>
          </p:cNvSpPr>
          <p:nvPr>
            <p:ph type="ftr" sz="quarter" idx="11"/>
          </p:nvPr>
        </p:nvSpPr>
        <p:spPr/>
        <p:txBody>
          <a:bodyPr/>
          <a:lstStyle/>
          <a:p>
            <a:endParaRPr lang="en-IN"/>
          </a:p>
        </p:txBody>
      </p:sp>
      <p:sp>
        <p:nvSpPr>
          <p:cNvPr id="12" name="Slide Number Placeholder 11"/>
          <p:cNvSpPr>
            <a:spLocks noGrp="1"/>
          </p:cNvSpPr>
          <p:nvPr>
            <p:ph type="sldNum" sz="quarter" idx="12"/>
          </p:nvPr>
        </p:nvSpPr>
        <p:spPr/>
        <p:txBody>
          <a:bodyPr/>
          <a:lstStyle/>
          <a:p>
            <a:fld id="{AC6D172C-3A65-4680-AAFB-A052EB12D54D}" type="slidenum">
              <a:rPr lang="en-IN" smtClean="0"/>
              <a:t>‹#›</a:t>
            </a:fld>
            <a:endParaRPr lang="en-IN"/>
          </a:p>
        </p:txBody>
      </p:sp>
    </p:spTree>
    <p:extLst>
      <p:ext uri="{BB962C8B-B14F-4D97-AF65-F5344CB8AC3E}">
        <p14:creationId xmlns:p14="http://schemas.microsoft.com/office/powerpoint/2010/main" val="21605275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GB"/>
              <a:t>Click to edit Master title style</a:t>
            </a:r>
            <a:endParaRPr lang="en-US" dirty="0"/>
          </a:p>
        </p:txBody>
      </p:sp>
      <p:sp>
        <p:nvSpPr>
          <p:cNvPr id="2" name="Date Placeholder 1"/>
          <p:cNvSpPr>
            <a:spLocks noGrp="1"/>
          </p:cNvSpPr>
          <p:nvPr>
            <p:ph type="dt" sz="half" idx="10"/>
          </p:nvPr>
        </p:nvSpPr>
        <p:spPr/>
        <p:txBody>
          <a:bodyPr/>
          <a:lstStyle/>
          <a:p>
            <a:fld id="{3E594C3D-A39B-4310-B7FD-B60219990675}" type="datetimeFigureOut">
              <a:rPr lang="en-IN" smtClean="0"/>
              <a:t>28-08-2026</a:t>
            </a:fld>
            <a:endParaRPr lang="en-IN"/>
          </a:p>
        </p:txBody>
      </p:sp>
      <p:sp>
        <p:nvSpPr>
          <p:cNvPr id="7" name="Footer Placeholder 6"/>
          <p:cNvSpPr>
            <a:spLocks noGrp="1"/>
          </p:cNvSpPr>
          <p:nvPr>
            <p:ph type="ftr" sz="quarter" idx="11"/>
          </p:nvPr>
        </p:nvSpPr>
        <p:spPr/>
        <p:txBody>
          <a:bodyPr/>
          <a:lstStyle/>
          <a:p>
            <a:endParaRPr lang="en-IN"/>
          </a:p>
        </p:txBody>
      </p:sp>
      <p:sp>
        <p:nvSpPr>
          <p:cNvPr id="8" name="Slide Number Placeholder 7"/>
          <p:cNvSpPr>
            <a:spLocks noGrp="1"/>
          </p:cNvSpPr>
          <p:nvPr>
            <p:ph type="sldNum" sz="quarter" idx="12"/>
          </p:nvPr>
        </p:nvSpPr>
        <p:spPr/>
        <p:txBody>
          <a:bodyPr/>
          <a:lstStyle/>
          <a:p>
            <a:fld id="{AC6D172C-3A65-4680-AAFB-A052EB12D54D}" type="slidenum">
              <a:rPr lang="en-IN" smtClean="0"/>
              <a:t>‹#›</a:t>
            </a:fld>
            <a:endParaRPr lang="en-IN"/>
          </a:p>
        </p:txBody>
      </p:sp>
    </p:spTree>
    <p:extLst>
      <p:ext uri="{BB962C8B-B14F-4D97-AF65-F5344CB8AC3E}">
        <p14:creationId xmlns:p14="http://schemas.microsoft.com/office/powerpoint/2010/main" val="1408158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3E594C3D-A39B-4310-B7FD-B60219990675}" type="datetimeFigureOut">
              <a:rPr lang="en-IN" smtClean="0"/>
              <a:t>28-08-2026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AC6D172C-3A65-4680-AAFB-A052EB12D54D}" type="slidenum">
              <a:rPr lang="en-IN" smtClean="0"/>
              <a:t>‹#›</a:t>
            </a:fld>
            <a:endParaRPr lang="en-IN"/>
          </a:p>
        </p:txBody>
      </p:sp>
    </p:spTree>
    <p:extLst>
      <p:ext uri="{BB962C8B-B14F-4D97-AF65-F5344CB8AC3E}">
        <p14:creationId xmlns:p14="http://schemas.microsoft.com/office/powerpoint/2010/main" val="1764682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baseline="0"/>
            </a:lvl1pPr>
          </a:lstStyle>
          <a:p>
            <a:r>
              <a:rPr lang="en-GB"/>
              <a:t>Click to edit Master title style</a:t>
            </a:r>
            <a:endParaRPr lang="en-US" dirty="0"/>
          </a:p>
        </p:txBody>
      </p:sp>
      <p:sp>
        <p:nvSpPr>
          <p:cNvPr id="3" name="Content Placeholder 2"/>
          <p:cNvSpPr>
            <a:spLocks noGrp="1"/>
          </p:cNvSpPr>
          <p:nvPr>
            <p:ph idx="1"/>
          </p:nvPr>
        </p:nvSpPr>
        <p:spPr>
          <a:xfrm>
            <a:off x="3867912" y="868680"/>
            <a:ext cx="731520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256032" y="3494176"/>
            <a:ext cx="2834640" cy="2321990"/>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8" name="Date Placeholder 7"/>
          <p:cNvSpPr>
            <a:spLocks noGrp="1"/>
          </p:cNvSpPr>
          <p:nvPr>
            <p:ph type="dt" sz="half" idx="10"/>
          </p:nvPr>
        </p:nvSpPr>
        <p:spPr/>
        <p:txBody>
          <a:bodyPr/>
          <a:lstStyle/>
          <a:p>
            <a:fld id="{3E594C3D-A39B-4310-B7FD-B60219990675}" type="datetimeFigureOut">
              <a:rPr lang="en-IN" smtClean="0"/>
              <a:t>28-08-2026</a:t>
            </a:fld>
            <a:endParaRPr lang="en-IN"/>
          </a:p>
        </p:txBody>
      </p:sp>
      <p:sp>
        <p:nvSpPr>
          <p:cNvPr id="9" name="Footer Placeholder 8"/>
          <p:cNvSpPr>
            <a:spLocks noGrp="1"/>
          </p:cNvSpPr>
          <p:nvPr>
            <p:ph type="ftr" sz="quarter" idx="11"/>
          </p:nvPr>
        </p:nvSpPr>
        <p:spPr/>
        <p:txBody>
          <a:bodyPr/>
          <a:lstStyle/>
          <a:p>
            <a:endParaRPr lang="en-IN"/>
          </a:p>
        </p:txBody>
      </p:sp>
      <p:sp>
        <p:nvSpPr>
          <p:cNvPr id="10" name="Slide Number Placeholder 9"/>
          <p:cNvSpPr>
            <a:spLocks noGrp="1"/>
          </p:cNvSpPr>
          <p:nvPr>
            <p:ph type="sldNum" sz="quarter" idx="12"/>
          </p:nvPr>
        </p:nvSpPr>
        <p:spPr/>
        <p:txBody>
          <a:bodyPr/>
          <a:lstStyle/>
          <a:p>
            <a:fld id="{AC6D172C-3A65-4680-AAFB-A052EB12D54D}" type="slidenum">
              <a:rPr lang="en-IN" smtClean="0"/>
              <a:t>‹#›</a:t>
            </a:fld>
            <a:endParaRPr lang="en-IN"/>
          </a:p>
        </p:txBody>
      </p:sp>
    </p:spTree>
    <p:extLst>
      <p:ext uri="{BB962C8B-B14F-4D97-AF65-F5344CB8AC3E}">
        <p14:creationId xmlns:p14="http://schemas.microsoft.com/office/powerpoint/2010/main" val="28841500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a:lvl1pPr>
          </a:lstStyle>
          <a:p>
            <a:r>
              <a:rPr lang="en-GB"/>
              <a:t>Click to edit Master title style</a:t>
            </a:r>
            <a:endParaRPr lang="en-US" dirty="0"/>
          </a:p>
        </p:txBody>
      </p:sp>
      <p:sp>
        <p:nvSpPr>
          <p:cNvPr id="3" name="Picture Placeholder 2"/>
          <p:cNvSpPr>
            <a:spLocks noGrp="1" noChangeAspect="1"/>
          </p:cNvSpPr>
          <p:nvPr>
            <p:ph type="pic" idx="1"/>
          </p:nvPr>
        </p:nvSpPr>
        <p:spPr>
          <a:xfrm>
            <a:off x="3570644" y="767419"/>
            <a:ext cx="8115230" cy="5330952"/>
          </a:xfrm>
          <a:solidFill>
            <a:schemeClr val="bg1">
              <a:lumMod val="75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4" name="Text Placeholder 3"/>
          <p:cNvSpPr>
            <a:spLocks noGrp="1"/>
          </p:cNvSpPr>
          <p:nvPr>
            <p:ph type="body" sz="half" idx="2"/>
          </p:nvPr>
        </p:nvSpPr>
        <p:spPr>
          <a:xfrm>
            <a:off x="256032" y="3493008"/>
            <a:ext cx="2834640" cy="2322576"/>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8" name="Date Placeholder 7"/>
          <p:cNvSpPr>
            <a:spLocks noGrp="1"/>
          </p:cNvSpPr>
          <p:nvPr>
            <p:ph type="dt" sz="half" idx="10"/>
          </p:nvPr>
        </p:nvSpPr>
        <p:spPr/>
        <p:txBody>
          <a:bodyPr/>
          <a:lstStyle/>
          <a:p>
            <a:fld id="{3E594C3D-A39B-4310-B7FD-B60219990675}" type="datetimeFigureOut">
              <a:rPr lang="en-IN" smtClean="0"/>
              <a:t>28-08-2026</a:t>
            </a:fld>
            <a:endParaRPr lang="en-IN"/>
          </a:p>
        </p:txBody>
      </p:sp>
      <p:sp>
        <p:nvSpPr>
          <p:cNvPr id="9" name="Footer Placeholder 8"/>
          <p:cNvSpPr>
            <a:spLocks noGrp="1"/>
          </p:cNvSpPr>
          <p:nvPr>
            <p:ph type="ftr" sz="quarter" idx="11"/>
          </p:nvPr>
        </p:nvSpPr>
        <p:spPr>
          <a:xfrm>
            <a:off x="3499101" y="6356350"/>
            <a:ext cx="5911517" cy="365125"/>
          </a:xfrm>
        </p:spPr>
        <p:txBody>
          <a:bodyPr/>
          <a:lstStyle/>
          <a:p>
            <a:endParaRPr lang="en-IN"/>
          </a:p>
        </p:txBody>
      </p:sp>
      <p:sp>
        <p:nvSpPr>
          <p:cNvPr id="10" name="Slide Number Placeholder 9"/>
          <p:cNvSpPr>
            <a:spLocks noGrp="1"/>
          </p:cNvSpPr>
          <p:nvPr>
            <p:ph type="sldNum" sz="quarter" idx="12"/>
          </p:nvPr>
        </p:nvSpPr>
        <p:spPr/>
        <p:txBody>
          <a:bodyPr/>
          <a:lstStyle/>
          <a:p>
            <a:fld id="{AC6D172C-3A65-4680-AAFB-A052EB12D54D}" type="slidenum">
              <a:rPr lang="en-IN" smtClean="0"/>
              <a:t>‹#›</a:t>
            </a:fld>
            <a:endParaRPr lang="en-IN"/>
          </a:p>
        </p:txBody>
      </p:sp>
    </p:spTree>
    <p:extLst>
      <p:ext uri="{BB962C8B-B14F-4D97-AF65-F5344CB8AC3E}">
        <p14:creationId xmlns:p14="http://schemas.microsoft.com/office/powerpoint/2010/main" val="30159126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3E594C3D-A39B-4310-B7FD-B60219990675}" type="datetimeFigureOut">
              <a:rPr lang="en-IN" smtClean="0"/>
              <a:t>28-08-2026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AC6D172C-3A65-4680-AAFB-A052EB12D54D}" type="slidenum">
              <a:rPr lang="en-IN" smtClean="0"/>
              <a:t>‹#›</a:t>
            </a:fld>
            <a:endParaRPr lang="en-IN"/>
          </a:p>
        </p:txBody>
      </p:sp>
    </p:spTree>
    <p:extLst>
      <p:ext uri="{BB962C8B-B14F-4D97-AF65-F5344CB8AC3E}">
        <p14:creationId xmlns:p14="http://schemas.microsoft.com/office/powerpoint/2010/main" val="22578014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81000" y="990600"/>
            <a:ext cx="2819400" cy="4953000"/>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3867912" y="868680"/>
            <a:ext cx="7315200" cy="5120640"/>
          </a:xfrm>
        </p:spPr>
        <p:txBody>
          <a:bodyPr vert="eaVert" ancho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3E594C3D-A39B-4310-B7FD-B60219990675}" type="datetimeFigureOut">
              <a:rPr lang="en-IN" smtClean="0"/>
              <a:t>28-08-2026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AC6D172C-3A65-4680-AAFB-A052EB12D54D}" type="slidenum">
              <a:rPr lang="en-IN" smtClean="0"/>
              <a:t>‹#›</a:t>
            </a:fld>
            <a:endParaRPr lang="en-IN"/>
          </a:p>
        </p:txBody>
      </p:sp>
    </p:spTree>
    <p:extLst>
      <p:ext uri="{BB962C8B-B14F-4D97-AF65-F5344CB8AC3E}">
        <p14:creationId xmlns:p14="http://schemas.microsoft.com/office/powerpoint/2010/main" val="19882765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758952"/>
            <a:ext cx="3443590" cy="53309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Placeholder 1"/>
          <p:cNvSpPr>
            <a:spLocks noGrp="1"/>
          </p:cNvSpPr>
          <p:nvPr>
            <p:ph type="title"/>
          </p:nvPr>
        </p:nvSpPr>
        <p:spPr>
          <a:xfrm>
            <a:off x="252919" y="1123837"/>
            <a:ext cx="2947482" cy="460118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8" name="Rectangle 37"/>
          <p:cNvSpPr/>
          <p:nvPr/>
        </p:nvSpPr>
        <p:spPr>
          <a:xfrm>
            <a:off x="11815864" y="758952"/>
            <a:ext cx="384048" cy="5330952"/>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3" name="Text Placeholder 2"/>
          <p:cNvSpPr>
            <a:spLocks noGrp="1"/>
          </p:cNvSpPr>
          <p:nvPr>
            <p:ph type="body" idx="1"/>
          </p:nvPr>
        </p:nvSpPr>
        <p:spPr>
          <a:xfrm>
            <a:off x="3869268" y="864108"/>
            <a:ext cx="7315200" cy="5120640"/>
          </a:xfrm>
          <a:prstGeom prst="rect">
            <a:avLst/>
          </a:prstGeom>
        </p:spPr>
        <p:txBody>
          <a:bodyPr vert="horz" lIns="91440" tIns="45720" rIns="91440" bIns="45720" rtlCol="0" anchor="ct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262465" y="6356350"/>
            <a:ext cx="2743200"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fld id="{3E594C3D-A39B-4310-B7FD-B60219990675}" type="datetimeFigureOut">
              <a:rPr lang="en-IN" smtClean="0"/>
              <a:t>28-08-2026</a:t>
            </a:fld>
            <a:endParaRPr lang="en-IN"/>
          </a:p>
        </p:txBody>
      </p:sp>
      <p:sp>
        <p:nvSpPr>
          <p:cNvPr id="5" name="Footer Placeholder 4"/>
          <p:cNvSpPr>
            <a:spLocks noGrp="1"/>
          </p:cNvSpPr>
          <p:nvPr>
            <p:ph type="ftr" sz="quarter" idx="3"/>
          </p:nvPr>
        </p:nvSpPr>
        <p:spPr>
          <a:xfrm>
            <a:off x="3869268" y="6356350"/>
            <a:ext cx="5911517"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endParaRPr lang="en-IN"/>
          </a:p>
        </p:txBody>
      </p:sp>
      <p:sp>
        <p:nvSpPr>
          <p:cNvPr id="6" name="Slide Number Placeholder 5"/>
          <p:cNvSpPr>
            <a:spLocks noGrp="1"/>
          </p:cNvSpPr>
          <p:nvPr>
            <p:ph type="sldNum" sz="quarter" idx="4"/>
          </p:nvPr>
        </p:nvSpPr>
        <p:spPr>
          <a:xfrm>
            <a:off x="10634135" y="6356350"/>
            <a:ext cx="1530927" cy="365125"/>
          </a:xfrm>
          <a:prstGeom prst="rect">
            <a:avLst/>
          </a:prstGeom>
        </p:spPr>
        <p:txBody>
          <a:bodyPr vert="horz" lIns="91440" tIns="45720" rIns="91440" bIns="45720" rtlCol="0" anchor="ctr"/>
          <a:lstStyle>
            <a:lvl1pPr algn="r">
              <a:defRPr sz="1200" b="1">
                <a:solidFill>
                  <a:schemeClr val="accent1"/>
                </a:solidFill>
              </a:defRPr>
            </a:lvl1pPr>
          </a:lstStyle>
          <a:p>
            <a:fld id="{AC6D172C-3A65-4680-AAFB-A052EB12D54D}" type="slidenum">
              <a:rPr lang="en-IN" smtClean="0"/>
              <a:t>‹#›</a:t>
            </a:fld>
            <a:endParaRPr lang="en-IN"/>
          </a:p>
        </p:txBody>
      </p:sp>
    </p:spTree>
    <p:extLst>
      <p:ext uri="{BB962C8B-B14F-4D97-AF65-F5344CB8AC3E}">
        <p14:creationId xmlns:p14="http://schemas.microsoft.com/office/powerpoint/2010/main" val="3202725354"/>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800" kern="1200">
          <a:solidFill>
            <a:schemeClr val="tx1">
              <a:lumMod val="65000"/>
              <a:lumOff val="35000"/>
            </a:schemeClr>
          </a:solidFill>
          <a:latin typeface="+mn-lt"/>
          <a:ea typeface="+mn-ea"/>
          <a:cs typeface="+mn-cs"/>
        </a:defRPr>
      </a:lvl2pPr>
      <a:lvl3pPr marL="11430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600" kern="1200">
          <a:solidFill>
            <a:schemeClr val="tx1">
              <a:lumMod val="65000"/>
              <a:lumOff val="35000"/>
            </a:schemeClr>
          </a:solidFill>
          <a:latin typeface="+mn-lt"/>
          <a:ea typeface="+mn-ea"/>
          <a:cs typeface="+mn-cs"/>
        </a:defRPr>
      </a:lvl3pPr>
      <a:lvl4pPr marL="16002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4pPr>
      <a:lvl5pPr marL="20574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8pPr>
      <a:lvl9pPr marL="38862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B4B5CC49-6FAE-42FA-99B6-A3FDA8C688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A95EE6D-205B-0269-7345-B80B16FCED1E}"/>
              </a:ext>
            </a:extLst>
          </p:cNvPr>
          <p:cNvSpPr>
            <a:spLocks noGrp="1"/>
          </p:cNvSpPr>
          <p:nvPr>
            <p:ph type="ctrTitle"/>
          </p:nvPr>
        </p:nvSpPr>
        <p:spPr>
          <a:xfrm>
            <a:off x="1703295" y="1083732"/>
            <a:ext cx="5509628" cy="4690534"/>
          </a:xfrm>
        </p:spPr>
        <p:txBody>
          <a:bodyPr anchor="ctr">
            <a:normAutofit/>
          </a:bodyPr>
          <a:lstStyle/>
          <a:p>
            <a:pPr algn="r"/>
            <a:r>
              <a:rPr lang="en-US" sz="5600" dirty="0">
                <a:solidFill>
                  <a:schemeClr val="tx1">
                    <a:lumMod val="75000"/>
                    <a:lumOff val="25000"/>
                  </a:schemeClr>
                </a:solidFill>
              </a:rPr>
              <a:t>Real-Time Voice AI Agent for Banking Support &amp; </a:t>
            </a:r>
            <a:r>
              <a:rPr lang="en-GB" sz="5600" dirty="0">
                <a:solidFill>
                  <a:schemeClr val="tx1">
                    <a:lumMod val="75000"/>
                    <a:lumOff val="25000"/>
                  </a:schemeClr>
                </a:solidFill>
              </a:rPr>
              <a:t>Legal Research Assistant for Indian Courts</a:t>
            </a:r>
            <a:endParaRPr lang="en-IN" sz="5600" dirty="0">
              <a:solidFill>
                <a:schemeClr val="tx1">
                  <a:lumMod val="75000"/>
                  <a:lumOff val="25000"/>
                </a:schemeClr>
              </a:solidFill>
            </a:endParaRPr>
          </a:p>
        </p:txBody>
      </p:sp>
      <p:sp>
        <p:nvSpPr>
          <p:cNvPr id="3" name="Subtitle 2">
            <a:extLst>
              <a:ext uri="{FF2B5EF4-FFF2-40B4-BE49-F238E27FC236}">
                <a16:creationId xmlns:a16="http://schemas.microsoft.com/office/drawing/2014/main" id="{900C490E-055C-1232-7BF3-72C927F40491}"/>
              </a:ext>
            </a:extLst>
          </p:cNvPr>
          <p:cNvSpPr>
            <a:spLocks noGrp="1"/>
          </p:cNvSpPr>
          <p:nvPr>
            <p:ph type="subTitle" idx="1"/>
          </p:nvPr>
        </p:nvSpPr>
        <p:spPr>
          <a:xfrm>
            <a:off x="7856389" y="1083732"/>
            <a:ext cx="3507653" cy="4690534"/>
          </a:xfrm>
        </p:spPr>
        <p:txBody>
          <a:bodyPr anchor="ctr">
            <a:normAutofit/>
          </a:bodyPr>
          <a:lstStyle/>
          <a:p>
            <a:r>
              <a:rPr lang="en-GB" sz="2800" dirty="0">
                <a:solidFill>
                  <a:schemeClr val="tx1">
                    <a:lumMod val="75000"/>
                    <a:lumOff val="25000"/>
                  </a:schemeClr>
                </a:solidFill>
              </a:rPr>
              <a:t>By: Aryan Arora</a:t>
            </a:r>
          </a:p>
          <a:p>
            <a:r>
              <a:rPr lang="en-GB" sz="2800" dirty="0">
                <a:solidFill>
                  <a:schemeClr val="tx1">
                    <a:lumMod val="75000"/>
                    <a:lumOff val="25000"/>
                  </a:schemeClr>
                </a:solidFill>
              </a:rPr>
              <a:t>VIT Chennai</a:t>
            </a:r>
          </a:p>
          <a:p>
            <a:r>
              <a:rPr lang="en-GB" sz="2800" dirty="0">
                <a:solidFill>
                  <a:schemeClr val="tx1">
                    <a:lumMod val="75000"/>
                    <a:lumOff val="25000"/>
                  </a:schemeClr>
                </a:solidFill>
              </a:rPr>
              <a:t>DS &amp; AI</a:t>
            </a:r>
            <a:endParaRPr lang="en-IN" sz="2800" dirty="0">
              <a:solidFill>
                <a:schemeClr val="tx1">
                  <a:lumMod val="75000"/>
                  <a:lumOff val="25000"/>
                </a:schemeClr>
              </a:solidFill>
            </a:endParaRPr>
          </a:p>
        </p:txBody>
      </p:sp>
      <p:sp>
        <p:nvSpPr>
          <p:cNvPr id="21" name="Rectangle 20">
            <a:extLst>
              <a:ext uri="{FF2B5EF4-FFF2-40B4-BE49-F238E27FC236}">
                <a16:creationId xmlns:a16="http://schemas.microsoft.com/office/drawing/2014/main" id="{E6BC9B4A-2119-4645-B4CA-7817D5FAF4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61999"/>
            <a:ext cx="1286934" cy="5334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cxnSp>
        <p:nvCxnSpPr>
          <p:cNvPr id="23" name="Straight Connector 22">
            <a:extLst>
              <a:ext uri="{FF2B5EF4-FFF2-40B4-BE49-F238E27FC236}">
                <a16:creationId xmlns:a16="http://schemas.microsoft.com/office/drawing/2014/main" id="{158D888F-D87A-4C3C-BD82-273E4C8C5E8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34656" y="2085681"/>
            <a:ext cx="0" cy="2686639"/>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99A2CD81-3BB6-4ED6-A50F-DC14F37A95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685778" y="767825"/>
            <a:ext cx="508012" cy="5328173"/>
          </a:xfrm>
          <a:prstGeom prst="rect">
            <a:avLst/>
          </a:prstGeom>
          <a:solidFill>
            <a:srgbClr val="C8C8C8">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111299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E6318FB-1C1C-8D2A-F688-40AF9C482665}"/>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86D4068-D045-48B0-9A00-198F2FE4B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ngled shot of pen on a graph">
            <a:extLst>
              <a:ext uri="{FF2B5EF4-FFF2-40B4-BE49-F238E27FC236}">
                <a16:creationId xmlns:a16="http://schemas.microsoft.com/office/drawing/2014/main" id="{C65FDF1C-7487-D662-A3B8-9D924640E351}"/>
              </a:ext>
            </a:extLst>
          </p:cNvPr>
          <p:cNvPicPr>
            <a:picLocks noChangeAspect="1"/>
          </p:cNvPicPr>
          <p:nvPr/>
        </p:nvPicPr>
        <p:blipFill>
          <a:blip r:embed="rId2">
            <a:duotone>
              <a:schemeClr val="bg2">
                <a:shade val="45000"/>
                <a:satMod val="135000"/>
              </a:schemeClr>
              <a:prstClr val="white"/>
            </a:duotone>
            <a:alphaModFix amt="25000"/>
          </a:blip>
          <a:srcRect t="9487" r="-1" b="6222"/>
          <a:stretch>
            <a:fillRect/>
          </a:stretch>
        </p:blipFill>
        <p:spPr>
          <a:xfrm>
            <a:off x="0" y="-35527"/>
            <a:ext cx="12188932" cy="6858000"/>
          </a:xfrm>
          <a:prstGeom prst="rect">
            <a:avLst/>
          </a:prstGeom>
        </p:spPr>
      </p:pic>
      <p:sp>
        <p:nvSpPr>
          <p:cNvPr id="11" name="Rectangle 10">
            <a:extLst>
              <a:ext uri="{FF2B5EF4-FFF2-40B4-BE49-F238E27FC236}">
                <a16:creationId xmlns:a16="http://schemas.microsoft.com/office/drawing/2014/main" id="{12664C4B-AAE2-4AA0-8918-134E8086F3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758952"/>
            <a:ext cx="3443590" cy="53309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a:extLst>
              <a:ext uri="{FF2B5EF4-FFF2-40B4-BE49-F238E27FC236}">
                <a16:creationId xmlns:a16="http://schemas.microsoft.com/office/drawing/2014/main" id="{9B060889-9C2F-37BB-29FD-9EBB40D908BE}"/>
              </a:ext>
            </a:extLst>
          </p:cNvPr>
          <p:cNvSpPr>
            <a:spLocks noGrp="1"/>
          </p:cNvSpPr>
          <p:nvPr>
            <p:ph type="title"/>
          </p:nvPr>
        </p:nvSpPr>
        <p:spPr>
          <a:xfrm>
            <a:off x="252919" y="1123837"/>
            <a:ext cx="2947482" cy="4601183"/>
          </a:xfrm>
        </p:spPr>
        <p:txBody>
          <a:bodyPr>
            <a:normAutofit/>
          </a:bodyPr>
          <a:lstStyle/>
          <a:p>
            <a:r>
              <a:rPr lang="en-GB" dirty="0"/>
              <a:t>Real-Time Voice AI Agent for Banking Support </a:t>
            </a:r>
            <a:endParaRPr lang="en-IN" dirty="0"/>
          </a:p>
        </p:txBody>
      </p:sp>
      <p:sp>
        <p:nvSpPr>
          <p:cNvPr id="3" name="Content Placeholder 2">
            <a:extLst>
              <a:ext uri="{FF2B5EF4-FFF2-40B4-BE49-F238E27FC236}">
                <a16:creationId xmlns:a16="http://schemas.microsoft.com/office/drawing/2014/main" id="{B831D473-6890-E1E6-CCFF-39703D89B487}"/>
              </a:ext>
            </a:extLst>
          </p:cNvPr>
          <p:cNvSpPr>
            <a:spLocks noGrp="1"/>
          </p:cNvSpPr>
          <p:nvPr>
            <p:ph idx="1"/>
          </p:nvPr>
        </p:nvSpPr>
        <p:spPr>
          <a:xfrm>
            <a:off x="3869268" y="517161"/>
            <a:ext cx="7315200" cy="2928403"/>
          </a:xfrm>
        </p:spPr>
        <p:txBody>
          <a:bodyPr>
            <a:normAutofit/>
          </a:bodyPr>
          <a:lstStyle/>
          <a:p>
            <a:pPr marL="0" indent="0">
              <a:buNone/>
            </a:pPr>
            <a:r>
              <a:rPr lang="en-US" sz="1400" b="1" dirty="0"/>
              <a:t>Problem Statement</a:t>
            </a:r>
            <a:endParaRPr lang="en-US" sz="1100" b="1" dirty="0"/>
          </a:p>
          <a:p>
            <a:r>
              <a:rPr lang="en-US" sz="1100" dirty="0"/>
              <a:t>Indian private banks handle over 10 million support calls monthly with 6-plus minute average handle times and high IVR frustration, leading to poor CSAT scores and customer churn. Tier-1 queries such as balance checks, card blocks, and EMI schedules represent 60% of call volume but consume the same agent time as complex issues.</a:t>
            </a:r>
          </a:p>
          <a:p>
            <a:endParaRPr lang="en-US" sz="1100" dirty="0"/>
          </a:p>
          <a:p>
            <a:pPr marL="0" indent="0">
              <a:buNone/>
            </a:pPr>
            <a:r>
              <a:rPr lang="en-US" sz="1400" b="1" dirty="0"/>
              <a:t>Solution Overview</a:t>
            </a:r>
            <a:endParaRPr lang="en-US" sz="1100" b="1" dirty="0"/>
          </a:p>
          <a:p>
            <a:r>
              <a:rPr lang="en-US" sz="1100" dirty="0"/>
              <a:t>A real-time voice AI agent using </a:t>
            </a:r>
            <a:r>
              <a:rPr lang="en-US" sz="1100" dirty="0" err="1"/>
              <a:t>Pipecat</a:t>
            </a:r>
            <a:r>
              <a:rPr lang="en-US" sz="1100" dirty="0"/>
              <a:t> for call orchestration, faster-whisper for streaming speech-to-text, Coqui TTS for text-to-speech, and a RAG backend grounded on bank policy documents. The agent handles Tier-1 queries and escalates complex queries to human agents with full conversation context and entity summary.</a:t>
            </a:r>
          </a:p>
          <a:p>
            <a:endParaRPr lang="en-US" sz="1100" dirty="0"/>
          </a:p>
          <a:p>
            <a:endParaRPr lang="en-US" sz="1100" dirty="0"/>
          </a:p>
          <a:p>
            <a:pPr marL="0" indent="0">
              <a:buNone/>
            </a:pPr>
            <a:endParaRPr lang="en-IN" sz="1100" dirty="0"/>
          </a:p>
        </p:txBody>
      </p:sp>
      <p:sp>
        <p:nvSpPr>
          <p:cNvPr id="13" name="Rectangle 12">
            <a:extLst>
              <a:ext uri="{FF2B5EF4-FFF2-40B4-BE49-F238E27FC236}">
                <a16:creationId xmlns:a16="http://schemas.microsoft.com/office/drawing/2014/main" id="{616F9FD8-4CFE-4C77-8F29-5D801C57E2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815864" y="758952"/>
            <a:ext cx="384048" cy="5330952"/>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4" name="Content Placeholder 2">
            <a:extLst>
              <a:ext uri="{FF2B5EF4-FFF2-40B4-BE49-F238E27FC236}">
                <a16:creationId xmlns:a16="http://schemas.microsoft.com/office/drawing/2014/main" id="{FE84A49E-D421-0452-0F74-DDB6CAFD93A7}"/>
              </a:ext>
            </a:extLst>
          </p:cNvPr>
          <p:cNvSpPr txBox="1">
            <a:spLocks/>
          </p:cNvSpPr>
          <p:nvPr/>
        </p:nvSpPr>
        <p:spPr>
          <a:xfrm>
            <a:off x="3869268" y="2739190"/>
            <a:ext cx="7315200" cy="1223535"/>
          </a:xfrm>
          <a:prstGeom prst="rect">
            <a:avLst/>
          </a:prstGeom>
        </p:spPr>
        <p:txBody>
          <a:bodyPr vert="horz" lIns="91440" tIns="45720" rIns="91440" bIns="45720" rtlCol="0" anchor="ctr">
            <a:normAutofit/>
          </a:bodyPr>
          <a:lstStyle>
            <a:lvl1pPr marL="182880" indent="-182880" algn="l" defTabSz="914400" rtl="0" eaLnBrk="1" latinLnBrk="0" hangingPunct="1">
              <a:lnSpc>
                <a:spcPct val="90000"/>
              </a:lnSpc>
              <a:spcBef>
                <a:spcPts val="12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800" kern="1200">
                <a:solidFill>
                  <a:schemeClr val="tx1">
                    <a:lumMod val="65000"/>
                    <a:lumOff val="35000"/>
                  </a:schemeClr>
                </a:solidFill>
                <a:latin typeface="+mn-lt"/>
                <a:ea typeface="+mn-ea"/>
                <a:cs typeface="+mn-cs"/>
              </a:defRPr>
            </a:lvl2pPr>
            <a:lvl3pPr marL="11430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600" kern="1200">
                <a:solidFill>
                  <a:schemeClr val="tx1">
                    <a:lumMod val="65000"/>
                    <a:lumOff val="35000"/>
                  </a:schemeClr>
                </a:solidFill>
                <a:latin typeface="+mn-lt"/>
                <a:ea typeface="+mn-ea"/>
                <a:cs typeface="+mn-cs"/>
              </a:defRPr>
            </a:lvl3pPr>
            <a:lvl4pPr marL="16002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4pPr>
            <a:lvl5pPr marL="20574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8pPr>
            <a:lvl9pPr marL="38862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9pPr>
          </a:lstStyle>
          <a:p>
            <a:pPr marL="0" indent="0">
              <a:buFont typeface="Wingdings 2" pitchFamily="18" charset="2"/>
              <a:buNone/>
            </a:pPr>
            <a:r>
              <a:rPr lang="en-US" sz="1500" b="1" dirty="0"/>
              <a:t>Datasets</a:t>
            </a:r>
            <a:endParaRPr lang="en-US" sz="2400" b="1" dirty="0"/>
          </a:p>
          <a:p>
            <a:r>
              <a:rPr lang="en-US" sz="1200" dirty="0"/>
              <a:t>Due to r</a:t>
            </a:r>
            <a:r>
              <a:rPr lang="en-IN" sz="1200" dirty="0" err="1"/>
              <a:t>eal</a:t>
            </a:r>
            <a:r>
              <a:rPr lang="en-IN" sz="1200" dirty="0"/>
              <a:t> banking conversations contain sensitive financial and personally identifiable information. Instead, we can create a synthetic banking customer-support dataset.</a:t>
            </a:r>
          </a:p>
        </p:txBody>
      </p:sp>
      <p:sp>
        <p:nvSpPr>
          <p:cNvPr id="6" name="Content Placeholder 2">
            <a:extLst>
              <a:ext uri="{FF2B5EF4-FFF2-40B4-BE49-F238E27FC236}">
                <a16:creationId xmlns:a16="http://schemas.microsoft.com/office/drawing/2014/main" id="{5CB16808-4A7D-69AA-1B9D-01893F493173}"/>
              </a:ext>
            </a:extLst>
          </p:cNvPr>
          <p:cNvSpPr txBox="1">
            <a:spLocks/>
          </p:cNvSpPr>
          <p:nvPr/>
        </p:nvSpPr>
        <p:spPr>
          <a:xfrm>
            <a:off x="3869268" y="4405684"/>
            <a:ext cx="7315200" cy="1684220"/>
          </a:xfrm>
          <a:prstGeom prst="rect">
            <a:avLst/>
          </a:prstGeom>
        </p:spPr>
        <p:txBody>
          <a:bodyPr vert="horz" lIns="91440" tIns="45720" rIns="91440" bIns="45720" rtlCol="0" anchor="ctr">
            <a:noAutofit/>
          </a:bodyPr>
          <a:lstStyle>
            <a:lvl1pPr marL="182880" indent="-182880" algn="l" defTabSz="914400" rtl="0" eaLnBrk="1" latinLnBrk="0" hangingPunct="1">
              <a:lnSpc>
                <a:spcPct val="90000"/>
              </a:lnSpc>
              <a:spcBef>
                <a:spcPts val="12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800" kern="1200">
                <a:solidFill>
                  <a:schemeClr val="tx1">
                    <a:lumMod val="65000"/>
                    <a:lumOff val="35000"/>
                  </a:schemeClr>
                </a:solidFill>
                <a:latin typeface="+mn-lt"/>
                <a:ea typeface="+mn-ea"/>
                <a:cs typeface="+mn-cs"/>
              </a:defRPr>
            </a:lvl2pPr>
            <a:lvl3pPr marL="11430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600" kern="1200">
                <a:solidFill>
                  <a:schemeClr val="tx1">
                    <a:lumMod val="65000"/>
                    <a:lumOff val="35000"/>
                  </a:schemeClr>
                </a:solidFill>
                <a:latin typeface="+mn-lt"/>
                <a:ea typeface="+mn-ea"/>
                <a:cs typeface="+mn-cs"/>
              </a:defRPr>
            </a:lvl3pPr>
            <a:lvl4pPr marL="16002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4pPr>
            <a:lvl5pPr marL="20574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8pPr>
            <a:lvl9pPr marL="38862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9pPr>
          </a:lstStyle>
          <a:p>
            <a:pPr marL="0" indent="0">
              <a:buNone/>
            </a:pPr>
            <a:r>
              <a:rPr lang="en-US" sz="1800" b="1" dirty="0"/>
              <a:t>Objective</a:t>
            </a:r>
            <a:endParaRPr lang="en-US" sz="1400" b="1" dirty="0"/>
          </a:p>
          <a:p>
            <a:r>
              <a:rPr lang="en-US" sz="1200" dirty="0"/>
              <a:t>End-to-end voice pipeline: browser mic or Asterisk to faster-whisper STT to intent detection to RAG to Coqui TTS.</a:t>
            </a:r>
          </a:p>
          <a:p>
            <a:r>
              <a:rPr lang="en-US" sz="1200" dirty="0"/>
              <a:t>RAG knowledge base over bank FAQ PDFs, policy documents, and product sheets.</a:t>
            </a:r>
          </a:p>
          <a:p>
            <a:r>
              <a:rPr lang="en-US" sz="1200" dirty="0"/>
              <a:t>Intent classifier for banking: balance, card block, EMI, NEFT, cheque, FD, and more.</a:t>
            </a:r>
          </a:p>
          <a:p>
            <a:r>
              <a:rPr lang="en-IN" sz="1200" dirty="0"/>
              <a:t>Seamless human escalation</a:t>
            </a:r>
          </a:p>
          <a:p>
            <a:r>
              <a:rPr lang="en-US" sz="1200" dirty="0"/>
              <a:t>Call analytics dashboard: intent distribution, resolution rate, and average handle time</a:t>
            </a:r>
          </a:p>
          <a:p>
            <a:r>
              <a:rPr lang="en-US" sz="1200" dirty="0"/>
              <a:t>DTMF keypad fallback for low-network conditions</a:t>
            </a:r>
          </a:p>
          <a:p>
            <a:r>
              <a:rPr lang="en-US" sz="1200" dirty="0"/>
              <a:t>WebSocket-based deployment with Redis session management</a:t>
            </a:r>
          </a:p>
        </p:txBody>
      </p:sp>
    </p:spTree>
    <p:extLst>
      <p:ext uri="{BB962C8B-B14F-4D97-AF65-F5344CB8AC3E}">
        <p14:creationId xmlns:p14="http://schemas.microsoft.com/office/powerpoint/2010/main" val="18415110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29EC01C-3510-F8D2-6A7C-E2B95FA0E83C}"/>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A599269-A4F5-BC0D-AE57-C8573215EB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ngled shot of pen on a graph">
            <a:extLst>
              <a:ext uri="{FF2B5EF4-FFF2-40B4-BE49-F238E27FC236}">
                <a16:creationId xmlns:a16="http://schemas.microsoft.com/office/drawing/2014/main" id="{27E30C1F-7686-CBA5-48ED-8E0E76924ED5}"/>
              </a:ext>
            </a:extLst>
          </p:cNvPr>
          <p:cNvPicPr>
            <a:picLocks noChangeAspect="1"/>
          </p:cNvPicPr>
          <p:nvPr/>
        </p:nvPicPr>
        <p:blipFill>
          <a:blip r:embed="rId2">
            <a:duotone>
              <a:schemeClr val="bg2">
                <a:shade val="45000"/>
                <a:satMod val="135000"/>
              </a:schemeClr>
              <a:prstClr val="white"/>
            </a:duotone>
            <a:alphaModFix amt="25000"/>
          </a:blip>
          <a:srcRect t="9487" r="-1" b="6222"/>
          <a:stretch>
            <a:fillRect/>
          </a:stretch>
        </p:blipFill>
        <p:spPr>
          <a:xfrm>
            <a:off x="20" y="1"/>
            <a:ext cx="12188932" cy="6858000"/>
          </a:xfrm>
          <a:prstGeom prst="rect">
            <a:avLst/>
          </a:prstGeom>
        </p:spPr>
      </p:pic>
      <p:sp>
        <p:nvSpPr>
          <p:cNvPr id="11" name="Rectangle 10">
            <a:extLst>
              <a:ext uri="{FF2B5EF4-FFF2-40B4-BE49-F238E27FC236}">
                <a16:creationId xmlns:a16="http://schemas.microsoft.com/office/drawing/2014/main" id="{AB0AF305-7852-CE24-4C18-6D126033C9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758952"/>
            <a:ext cx="3443590" cy="53309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a:extLst>
              <a:ext uri="{FF2B5EF4-FFF2-40B4-BE49-F238E27FC236}">
                <a16:creationId xmlns:a16="http://schemas.microsoft.com/office/drawing/2014/main" id="{718C0042-5497-A7A6-B678-3CAB52EF0876}"/>
              </a:ext>
            </a:extLst>
          </p:cNvPr>
          <p:cNvSpPr>
            <a:spLocks noGrp="1"/>
          </p:cNvSpPr>
          <p:nvPr>
            <p:ph type="title"/>
          </p:nvPr>
        </p:nvSpPr>
        <p:spPr>
          <a:xfrm>
            <a:off x="252919" y="1123837"/>
            <a:ext cx="2947482" cy="4601183"/>
          </a:xfrm>
        </p:spPr>
        <p:txBody>
          <a:bodyPr>
            <a:normAutofit/>
          </a:bodyPr>
          <a:lstStyle/>
          <a:p>
            <a:r>
              <a:rPr lang="en-GB" dirty="0"/>
              <a:t>Legal Research Assistant for Indian Courts</a:t>
            </a:r>
            <a:endParaRPr lang="en-IN" dirty="0"/>
          </a:p>
        </p:txBody>
      </p:sp>
      <p:sp>
        <p:nvSpPr>
          <p:cNvPr id="3" name="Content Placeholder 2">
            <a:extLst>
              <a:ext uri="{FF2B5EF4-FFF2-40B4-BE49-F238E27FC236}">
                <a16:creationId xmlns:a16="http://schemas.microsoft.com/office/drawing/2014/main" id="{8A3CD164-0C74-1A02-9AD9-EC87B0CE0E53}"/>
              </a:ext>
            </a:extLst>
          </p:cNvPr>
          <p:cNvSpPr>
            <a:spLocks noGrp="1"/>
          </p:cNvSpPr>
          <p:nvPr>
            <p:ph idx="1"/>
          </p:nvPr>
        </p:nvSpPr>
        <p:spPr>
          <a:xfrm>
            <a:off x="3869268" y="329783"/>
            <a:ext cx="7315200" cy="6205927"/>
          </a:xfrm>
        </p:spPr>
        <p:txBody>
          <a:bodyPr>
            <a:normAutofit/>
          </a:bodyPr>
          <a:lstStyle/>
          <a:p>
            <a:pPr marL="0" indent="0">
              <a:buNone/>
            </a:pPr>
            <a:r>
              <a:rPr lang="en-US" sz="1400" b="1" dirty="0"/>
              <a:t>Problem Statement</a:t>
            </a:r>
            <a:endParaRPr lang="en-US" sz="1100" b="1" dirty="0"/>
          </a:p>
          <a:p>
            <a:r>
              <a:rPr lang="en-US" sz="1100" dirty="0"/>
              <a:t>Junior advocates spend weeks searching thousands of Supreme Court and High Court judgments on rulings to find relevant precedents, which is a slow and incomplete process. Senior lawyer time for research costs between 2,000 and 10,000 rupees per hour, making thorough legal research economically inaccessible for small firms.</a:t>
            </a:r>
          </a:p>
          <a:p>
            <a:endParaRPr lang="en-US" sz="1100" dirty="0"/>
          </a:p>
          <a:p>
            <a:pPr marL="0" indent="0">
              <a:buNone/>
            </a:pPr>
            <a:r>
              <a:rPr lang="en-US" sz="1400" b="1" dirty="0"/>
              <a:t>Solution Overview</a:t>
            </a:r>
            <a:endParaRPr lang="en-US" sz="1100" b="1" dirty="0"/>
          </a:p>
          <a:p>
            <a:r>
              <a:rPr lang="en-US" sz="1100" dirty="0"/>
              <a:t>A RAG application over the Indian Kanoon corpus and uploaded case files using legal-domain embeddings, two-stage hybrid retrieval, and LLM-based holding extraction, enabling advocates to find relevant precedents, extract ratio decidendi, and auto-draft structured argument outlines with citation-linked evidence.</a:t>
            </a:r>
            <a:endParaRPr lang="en-IN" sz="1100" dirty="0"/>
          </a:p>
          <a:p>
            <a:pPr marL="0" indent="0">
              <a:buNone/>
            </a:pPr>
            <a:r>
              <a:rPr lang="en-US" sz="1400" b="1" dirty="0"/>
              <a:t>Dataset</a:t>
            </a:r>
          </a:p>
          <a:p>
            <a:r>
              <a:rPr lang="en-US" sz="1100" dirty="0"/>
              <a:t>Open India Law- Hugging Face Dataset is to be used for the project. It contains judgments from the Supreme Court and all 25 High Courts of India. The current corpus has more than 12.8 million court judgments, covering roughly 1950–2025.</a:t>
            </a:r>
          </a:p>
          <a:p>
            <a:pPr marL="0" indent="0">
              <a:buNone/>
            </a:pPr>
            <a:r>
              <a:rPr lang="en-US" sz="1400" b="1" dirty="0"/>
              <a:t>Objective</a:t>
            </a:r>
            <a:endParaRPr lang="en-US" sz="1100" b="1" dirty="0"/>
          </a:p>
          <a:p>
            <a:pPr marL="342900" indent="-342900">
              <a:buFont typeface="Arial" panose="020B0604020202020204" pitchFamily="34" charset="0"/>
              <a:buChar char="•"/>
            </a:pPr>
            <a:r>
              <a:rPr lang="en-US" sz="1100" dirty="0"/>
              <a:t>Indian Kanoon scraper: 50,000 Supreme Court and High Court judgments</a:t>
            </a:r>
          </a:p>
          <a:p>
            <a:pPr marL="342900" indent="-342900">
              <a:buFont typeface="Arial" panose="020B0604020202020204" pitchFamily="34" charset="0"/>
              <a:buChar char="•"/>
            </a:pPr>
            <a:r>
              <a:rPr lang="en-IN" sz="1100" dirty="0"/>
              <a:t>Legal-domain chunking</a:t>
            </a:r>
          </a:p>
          <a:p>
            <a:pPr marL="342900" indent="-342900">
              <a:buFont typeface="Arial" panose="020B0604020202020204" pitchFamily="34" charset="0"/>
              <a:buChar char="•"/>
            </a:pPr>
            <a:r>
              <a:rPr lang="en-IN" sz="1100" dirty="0"/>
              <a:t>Hybrid retrieval</a:t>
            </a:r>
          </a:p>
          <a:p>
            <a:pPr marL="342900" indent="-342900">
              <a:buFont typeface="Arial" panose="020B0604020202020204" pitchFamily="34" charset="0"/>
              <a:buChar char="•"/>
            </a:pPr>
            <a:r>
              <a:rPr lang="en-IN" sz="1100" dirty="0"/>
              <a:t>Holding summariser</a:t>
            </a:r>
          </a:p>
          <a:p>
            <a:pPr marL="342900" indent="-342900">
              <a:buFont typeface="Arial" panose="020B0604020202020204" pitchFamily="34" charset="0"/>
              <a:buChar char="•"/>
            </a:pPr>
            <a:r>
              <a:rPr lang="en-US" sz="1100" dirty="0"/>
              <a:t>Argument outline drafter: pro and contra positions with supporting precedent citations</a:t>
            </a:r>
          </a:p>
          <a:p>
            <a:pPr marL="342900" indent="-342900">
              <a:buFont typeface="Arial" panose="020B0604020202020204" pitchFamily="34" charset="0"/>
              <a:buChar char="•"/>
            </a:pPr>
            <a:r>
              <a:rPr lang="en-US" sz="1100" dirty="0"/>
              <a:t>Case upload: advocate uploads client case file for session-specific contextual retrieval</a:t>
            </a:r>
            <a:endParaRPr lang="en-IN" sz="1100" dirty="0"/>
          </a:p>
        </p:txBody>
      </p:sp>
      <p:sp>
        <p:nvSpPr>
          <p:cNvPr id="13" name="Rectangle 12">
            <a:extLst>
              <a:ext uri="{FF2B5EF4-FFF2-40B4-BE49-F238E27FC236}">
                <a16:creationId xmlns:a16="http://schemas.microsoft.com/office/drawing/2014/main" id="{B687392A-F4C1-C75C-41D3-7D97214BC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815864" y="758952"/>
            <a:ext cx="384048" cy="5330952"/>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Tree>
    <p:extLst>
      <p:ext uri="{BB962C8B-B14F-4D97-AF65-F5344CB8AC3E}">
        <p14:creationId xmlns:p14="http://schemas.microsoft.com/office/powerpoint/2010/main" val="27833169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CAAA13-E3F3-0410-B78B-1B05EA91B141}"/>
              </a:ext>
            </a:extLst>
          </p:cNvPr>
          <p:cNvSpPr>
            <a:spLocks noGrp="1"/>
          </p:cNvSpPr>
          <p:nvPr>
            <p:ph type="title"/>
          </p:nvPr>
        </p:nvSpPr>
        <p:spPr/>
        <p:txBody>
          <a:bodyPr/>
          <a:lstStyle/>
          <a:p>
            <a:r>
              <a:rPr lang="en-US" dirty="0"/>
              <a:t>Technical Stack</a:t>
            </a:r>
            <a:endParaRPr lang="en-IN" dirty="0"/>
          </a:p>
        </p:txBody>
      </p:sp>
      <p:graphicFrame>
        <p:nvGraphicFramePr>
          <p:cNvPr id="4" name="Content Placeholder 3">
            <a:extLst>
              <a:ext uri="{FF2B5EF4-FFF2-40B4-BE49-F238E27FC236}">
                <a16:creationId xmlns:a16="http://schemas.microsoft.com/office/drawing/2014/main" id="{AD236D29-85BD-3B49-1C9B-18AF6B39FF92}"/>
              </a:ext>
            </a:extLst>
          </p:cNvPr>
          <p:cNvGraphicFramePr>
            <a:graphicFrameLocks noGrp="1"/>
          </p:cNvGraphicFramePr>
          <p:nvPr>
            <p:ph idx="1"/>
            <p:extLst>
              <p:ext uri="{D42A27DB-BD31-4B8C-83A1-F6EECF244321}">
                <p14:modId xmlns:p14="http://schemas.microsoft.com/office/powerpoint/2010/main" val="1607454072"/>
              </p:ext>
            </p:extLst>
          </p:nvPr>
        </p:nvGraphicFramePr>
        <p:xfrm>
          <a:off x="3868738" y="863600"/>
          <a:ext cx="7315200" cy="3977640"/>
        </p:xfrm>
        <a:graphic>
          <a:graphicData uri="http://schemas.openxmlformats.org/drawingml/2006/table">
            <a:tbl>
              <a:tblPr firstRow="1" bandRow="1">
                <a:tableStyleId>{5C22544A-7EE6-4342-B048-85BDC9FD1C3A}</a:tableStyleId>
              </a:tblPr>
              <a:tblGrid>
                <a:gridCol w="1887485">
                  <a:extLst>
                    <a:ext uri="{9D8B030D-6E8A-4147-A177-3AD203B41FA5}">
                      <a16:colId xmlns:a16="http://schemas.microsoft.com/office/drawing/2014/main" val="1694806031"/>
                    </a:ext>
                  </a:extLst>
                </a:gridCol>
                <a:gridCol w="5427715">
                  <a:extLst>
                    <a:ext uri="{9D8B030D-6E8A-4147-A177-3AD203B41FA5}">
                      <a16:colId xmlns:a16="http://schemas.microsoft.com/office/drawing/2014/main" val="911155316"/>
                    </a:ext>
                  </a:extLst>
                </a:gridCol>
              </a:tblGrid>
              <a:tr h="370840">
                <a:tc>
                  <a:txBody>
                    <a:bodyPr/>
                    <a:lstStyle/>
                    <a:p>
                      <a:r>
                        <a:rPr lang="en-US" dirty="0"/>
                        <a:t>Layer</a:t>
                      </a:r>
                      <a:endParaRPr lang="en-IN" dirty="0"/>
                    </a:p>
                  </a:txBody>
                  <a:tcPr marL="63611" marR="63611"/>
                </a:tc>
                <a:tc>
                  <a:txBody>
                    <a:bodyPr/>
                    <a:lstStyle/>
                    <a:p>
                      <a:r>
                        <a:rPr lang="en-IN" dirty="0"/>
                        <a:t>Free / Open-Source Technology</a:t>
                      </a:r>
                    </a:p>
                  </a:txBody>
                  <a:tcPr marL="63611" marR="63611"/>
                </a:tc>
                <a:extLst>
                  <a:ext uri="{0D108BD9-81ED-4DB2-BD59-A6C34878D82A}">
                    <a16:rowId xmlns:a16="http://schemas.microsoft.com/office/drawing/2014/main" val="796045321"/>
                  </a:ext>
                </a:extLst>
              </a:tr>
              <a:tr h="370840">
                <a:tc>
                  <a:txBody>
                    <a:bodyPr/>
                    <a:lstStyle/>
                    <a:p>
                      <a:r>
                        <a:rPr lang="en-IN" dirty="0"/>
                        <a:t>Call Orchestration</a:t>
                      </a:r>
                    </a:p>
                  </a:txBody>
                  <a:tcPr marL="63611" marR="63611"/>
                </a:tc>
                <a:tc>
                  <a:txBody>
                    <a:bodyPr/>
                    <a:lstStyle/>
                    <a:p>
                      <a:r>
                        <a:rPr lang="en-IN" dirty="0" err="1"/>
                        <a:t>Pipecat</a:t>
                      </a:r>
                      <a:endParaRPr lang="en-IN" dirty="0"/>
                    </a:p>
                  </a:txBody>
                  <a:tcPr marL="63611" marR="63611"/>
                </a:tc>
                <a:extLst>
                  <a:ext uri="{0D108BD9-81ED-4DB2-BD59-A6C34878D82A}">
                    <a16:rowId xmlns:a16="http://schemas.microsoft.com/office/drawing/2014/main" val="2295941272"/>
                  </a:ext>
                </a:extLst>
              </a:tr>
              <a:tr h="370840">
                <a:tc>
                  <a:txBody>
                    <a:bodyPr/>
                    <a:lstStyle/>
                    <a:p>
                      <a:r>
                        <a:rPr lang="en-IN" dirty="0"/>
                        <a:t>Telephony</a:t>
                      </a:r>
                    </a:p>
                  </a:txBody>
                  <a:tcPr marL="63611" marR="63611"/>
                </a:tc>
                <a:tc>
                  <a:txBody>
                    <a:bodyPr/>
                    <a:lstStyle/>
                    <a:p>
                      <a:r>
                        <a:rPr lang="en-IN" dirty="0"/>
                        <a:t>Browser WebSocket mic</a:t>
                      </a:r>
                    </a:p>
                  </a:txBody>
                  <a:tcPr marL="63611" marR="63611"/>
                </a:tc>
                <a:extLst>
                  <a:ext uri="{0D108BD9-81ED-4DB2-BD59-A6C34878D82A}">
                    <a16:rowId xmlns:a16="http://schemas.microsoft.com/office/drawing/2014/main" val="3821718340"/>
                  </a:ext>
                </a:extLst>
              </a:tr>
              <a:tr h="370840">
                <a:tc>
                  <a:txBody>
                    <a:bodyPr/>
                    <a:lstStyle/>
                    <a:p>
                      <a:r>
                        <a:rPr lang="en-IN" dirty="0"/>
                        <a:t>Speech-to-Text</a:t>
                      </a:r>
                    </a:p>
                  </a:txBody>
                  <a:tcPr marL="63611" marR="63611"/>
                </a:tc>
                <a:tc>
                  <a:txBody>
                    <a:bodyPr/>
                    <a:lstStyle/>
                    <a:p>
                      <a:r>
                        <a:rPr lang="en-IN" dirty="0"/>
                        <a:t>Whisper large-v3 local inference,</a:t>
                      </a:r>
                    </a:p>
                  </a:txBody>
                  <a:tcPr marL="63611" marR="63611"/>
                </a:tc>
                <a:extLst>
                  <a:ext uri="{0D108BD9-81ED-4DB2-BD59-A6C34878D82A}">
                    <a16:rowId xmlns:a16="http://schemas.microsoft.com/office/drawing/2014/main" val="2750868976"/>
                  </a:ext>
                </a:extLst>
              </a:tr>
              <a:tr h="370840">
                <a:tc>
                  <a:txBody>
                    <a:bodyPr/>
                    <a:lstStyle/>
                    <a:p>
                      <a:r>
                        <a:rPr lang="en-IN" dirty="0"/>
                        <a:t>Text-to-Speech</a:t>
                      </a:r>
                    </a:p>
                  </a:txBody>
                  <a:tcPr marL="63611" marR="63611"/>
                </a:tc>
                <a:tc>
                  <a:txBody>
                    <a:bodyPr/>
                    <a:lstStyle/>
                    <a:p>
                      <a:r>
                        <a:rPr lang="en-US" dirty="0"/>
                        <a:t>Coqui TTS or Kokoro TTS</a:t>
                      </a:r>
                      <a:endParaRPr lang="en-IN" dirty="0"/>
                    </a:p>
                  </a:txBody>
                  <a:tcPr marL="63611" marR="63611"/>
                </a:tc>
                <a:extLst>
                  <a:ext uri="{0D108BD9-81ED-4DB2-BD59-A6C34878D82A}">
                    <a16:rowId xmlns:a16="http://schemas.microsoft.com/office/drawing/2014/main" val="1967892122"/>
                  </a:ext>
                </a:extLst>
              </a:tr>
              <a:tr h="370840">
                <a:tc>
                  <a:txBody>
                    <a:bodyPr/>
                    <a:lstStyle/>
                    <a:p>
                      <a:r>
                        <a:rPr lang="en-IN" dirty="0"/>
                        <a:t>Intent Detection</a:t>
                      </a:r>
                    </a:p>
                  </a:txBody>
                  <a:tcPr marL="63611" marR="63611"/>
                </a:tc>
                <a:tc>
                  <a:txBody>
                    <a:bodyPr/>
                    <a:lstStyle/>
                    <a:p>
                      <a:r>
                        <a:rPr lang="en-IN" dirty="0" err="1"/>
                        <a:t>Ollama</a:t>
                      </a:r>
                      <a:r>
                        <a:rPr lang="en-IN" dirty="0"/>
                        <a:t> + Llama 3.1 8B with function calling</a:t>
                      </a:r>
                    </a:p>
                  </a:txBody>
                  <a:tcPr marL="63611" marR="63611"/>
                </a:tc>
                <a:extLst>
                  <a:ext uri="{0D108BD9-81ED-4DB2-BD59-A6C34878D82A}">
                    <a16:rowId xmlns:a16="http://schemas.microsoft.com/office/drawing/2014/main" val="946935523"/>
                  </a:ext>
                </a:extLst>
              </a:tr>
              <a:tr h="370840">
                <a:tc>
                  <a:txBody>
                    <a:bodyPr/>
                    <a:lstStyle/>
                    <a:p>
                      <a:r>
                        <a:rPr lang="en-IN" dirty="0"/>
                        <a:t>RAG Backend</a:t>
                      </a:r>
                    </a:p>
                  </a:txBody>
                  <a:tcPr marL="63611" marR="63611"/>
                </a:tc>
                <a:tc>
                  <a:txBody>
                    <a:bodyPr/>
                    <a:lstStyle/>
                    <a:p>
                      <a:r>
                        <a:rPr lang="es-ES" dirty="0" err="1"/>
                        <a:t>LangChain</a:t>
                      </a:r>
                      <a:r>
                        <a:rPr lang="es-ES" dirty="0"/>
                        <a:t> + </a:t>
                      </a:r>
                      <a:r>
                        <a:rPr lang="es-ES" dirty="0" err="1"/>
                        <a:t>ChromaDB</a:t>
                      </a:r>
                      <a:r>
                        <a:rPr lang="es-ES" dirty="0"/>
                        <a:t> + Ollama Llama 3.1</a:t>
                      </a:r>
                      <a:endParaRPr lang="en-IN" dirty="0"/>
                    </a:p>
                  </a:txBody>
                  <a:tcPr marL="63611" marR="63611"/>
                </a:tc>
                <a:extLst>
                  <a:ext uri="{0D108BD9-81ED-4DB2-BD59-A6C34878D82A}">
                    <a16:rowId xmlns:a16="http://schemas.microsoft.com/office/drawing/2014/main" val="3428261514"/>
                  </a:ext>
                </a:extLst>
              </a:tr>
              <a:tr h="370840">
                <a:tc>
                  <a:txBody>
                    <a:bodyPr/>
                    <a:lstStyle/>
                    <a:p>
                      <a:r>
                        <a:rPr lang="en-IN" dirty="0"/>
                        <a:t>Backend</a:t>
                      </a:r>
                    </a:p>
                  </a:txBody>
                  <a:tcPr marL="63611" marR="63611"/>
                </a:tc>
                <a:tc>
                  <a:txBody>
                    <a:bodyPr/>
                    <a:lstStyle/>
                    <a:p>
                      <a:r>
                        <a:rPr lang="en-IN" dirty="0" err="1"/>
                        <a:t>FastAPI</a:t>
                      </a:r>
                      <a:r>
                        <a:rPr lang="en-IN" dirty="0"/>
                        <a:t>+ </a:t>
                      </a:r>
                      <a:r>
                        <a:rPr lang="en-IN" dirty="0" err="1"/>
                        <a:t>WebSockets</a:t>
                      </a:r>
                      <a:r>
                        <a:rPr lang="en-IN"/>
                        <a:t> + Redis via Docker</a:t>
                      </a:r>
                      <a:endParaRPr lang="en-IN" dirty="0"/>
                    </a:p>
                  </a:txBody>
                  <a:tcPr marL="63611" marR="63611"/>
                </a:tc>
                <a:extLst>
                  <a:ext uri="{0D108BD9-81ED-4DB2-BD59-A6C34878D82A}">
                    <a16:rowId xmlns:a16="http://schemas.microsoft.com/office/drawing/2014/main" val="4254895733"/>
                  </a:ext>
                </a:extLst>
              </a:tr>
              <a:tr h="370840">
                <a:tc>
                  <a:txBody>
                    <a:bodyPr/>
                    <a:lstStyle/>
                    <a:p>
                      <a:r>
                        <a:rPr lang="en-IN" dirty="0"/>
                        <a:t>Storage</a:t>
                      </a:r>
                    </a:p>
                  </a:txBody>
                  <a:tcPr marL="63611" marR="63611"/>
                </a:tc>
                <a:tc>
                  <a:txBody>
                    <a:bodyPr/>
                    <a:lstStyle/>
                    <a:p>
                      <a:r>
                        <a:rPr lang="en-US" dirty="0" err="1"/>
                        <a:t>MinIO</a:t>
                      </a:r>
                      <a:r>
                        <a:rPr lang="en-US" dirty="0"/>
                        <a:t> for call recordings + PostgreSQL via Docker for transcripts</a:t>
                      </a:r>
                      <a:endParaRPr lang="en-IN" dirty="0"/>
                    </a:p>
                  </a:txBody>
                  <a:tcPr marL="63611" marR="63611"/>
                </a:tc>
                <a:extLst>
                  <a:ext uri="{0D108BD9-81ED-4DB2-BD59-A6C34878D82A}">
                    <a16:rowId xmlns:a16="http://schemas.microsoft.com/office/drawing/2014/main" val="3174950974"/>
                  </a:ext>
                </a:extLst>
              </a:tr>
              <a:tr h="370840">
                <a:tc>
                  <a:txBody>
                    <a:bodyPr/>
                    <a:lstStyle/>
                    <a:p>
                      <a:r>
                        <a:rPr lang="en-IN" dirty="0"/>
                        <a:t>Deployment</a:t>
                      </a:r>
                    </a:p>
                  </a:txBody>
                  <a:tcPr marL="63611" marR="63611"/>
                </a:tc>
                <a:tc>
                  <a:txBody>
                    <a:bodyPr/>
                    <a:lstStyle/>
                    <a:p>
                      <a:r>
                        <a:rPr lang="en-US" dirty="0"/>
                        <a:t>Docker Compose local + Nginx WebSocket proxy</a:t>
                      </a:r>
                      <a:endParaRPr lang="en-IN" dirty="0"/>
                    </a:p>
                  </a:txBody>
                  <a:tcPr marL="63611" marR="63611"/>
                </a:tc>
                <a:extLst>
                  <a:ext uri="{0D108BD9-81ED-4DB2-BD59-A6C34878D82A}">
                    <a16:rowId xmlns:a16="http://schemas.microsoft.com/office/drawing/2014/main" val="97494831"/>
                  </a:ext>
                </a:extLst>
              </a:tr>
            </a:tbl>
          </a:graphicData>
        </a:graphic>
      </p:graphicFrame>
    </p:spTree>
    <p:extLst>
      <p:ext uri="{BB962C8B-B14F-4D97-AF65-F5344CB8AC3E}">
        <p14:creationId xmlns:p14="http://schemas.microsoft.com/office/powerpoint/2010/main" val="23853730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0E93A-4B5B-2267-2D65-BA9A96CC89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47EF4F-B1D0-E249-E3D2-733A8EC720ED}"/>
              </a:ext>
            </a:extLst>
          </p:cNvPr>
          <p:cNvSpPr>
            <a:spLocks noGrp="1"/>
          </p:cNvSpPr>
          <p:nvPr>
            <p:ph type="title"/>
          </p:nvPr>
        </p:nvSpPr>
        <p:spPr/>
        <p:txBody>
          <a:bodyPr/>
          <a:lstStyle/>
          <a:p>
            <a:r>
              <a:rPr lang="en-US" dirty="0"/>
              <a:t>Technical Stack</a:t>
            </a:r>
            <a:endParaRPr lang="en-IN" dirty="0"/>
          </a:p>
        </p:txBody>
      </p:sp>
      <p:sp>
        <p:nvSpPr>
          <p:cNvPr id="5" name="Content Placeholder 4">
            <a:extLst>
              <a:ext uri="{FF2B5EF4-FFF2-40B4-BE49-F238E27FC236}">
                <a16:creationId xmlns:a16="http://schemas.microsoft.com/office/drawing/2014/main" id="{B1CC8A36-BCE4-4AEB-5AFA-F1FEEF7078BA}"/>
              </a:ext>
            </a:extLst>
          </p:cNvPr>
          <p:cNvSpPr>
            <a:spLocks noGrp="1"/>
          </p:cNvSpPr>
          <p:nvPr>
            <p:ph idx="1"/>
          </p:nvPr>
        </p:nvSpPr>
        <p:spPr/>
        <p:txBody>
          <a:bodyPr/>
          <a:lstStyle/>
          <a:p>
            <a:endParaRPr lang="en-IN" dirty="0"/>
          </a:p>
        </p:txBody>
      </p:sp>
      <p:graphicFrame>
        <p:nvGraphicFramePr>
          <p:cNvPr id="6" name="Content Placeholder 3">
            <a:extLst>
              <a:ext uri="{FF2B5EF4-FFF2-40B4-BE49-F238E27FC236}">
                <a16:creationId xmlns:a16="http://schemas.microsoft.com/office/drawing/2014/main" id="{9BEEA7AE-B8C8-3389-085C-E8BD0CD44A76}"/>
              </a:ext>
            </a:extLst>
          </p:cNvPr>
          <p:cNvGraphicFramePr>
            <a:graphicFrameLocks/>
          </p:cNvGraphicFramePr>
          <p:nvPr>
            <p:extLst>
              <p:ext uri="{D42A27DB-BD31-4B8C-83A1-F6EECF244321}">
                <p14:modId xmlns:p14="http://schemas.microsoft.com/office/powerpoint/2010/main" val="2313208653"/>
              </p:ext>
            </p:extLst>
          </p:nvPr>
        </p:nvGraphicFramePr>
        <p:xfrm>
          <a:off x="3869268" y="864108"/>
          <a:ext cx="7315200" cy="5129788"/>
        </p:xfrm>
        <a:graphic>
          <a:graphicData uri="http://schemas.openxmlformats.org/drawingml/2006/table">
            <a:tbl>
              <a:tblPr firstRow="1" bandRow="1">
                <a:tableStyleId>{5C22544A-7EE6-4342-B048-85BDC9FD1C3A}</a:tableStyleId>
              </a:tblPr>
              <a:tblGrid>
                <a:gridCol w="1401786">
                  <a:extLst>
                    <a:ext uri="{9D8B030D-6E8A-4147-A177-3AD203B41FA5}">
                      <a16:colId xmlns:a16="http://schemas.microsoft.com/office/drawing/2014/main" val="1694806031"/>
                    </a:ext>
                  </a:extLst>
                </a:gridCol>
                <a:gridCol w="5913414">
                  <a:extLst>
                    <a:ext uri="{9D8B030D-6E8A-4147-A177-3AD203B41FA5}">
                      <a16:colId xmlns:a16="http://schemas.microsoft.com/office/drawing/2014/main" val="911155316"/>
                    </a:ext>
                  </a:extLst>
                </a:gridCol>
              </a:tblGrid>
              <a:tr h="447936">
                <a:tc>
                  <a:txBody>
                    <a:bodyPr/>
                    <a:lstStyle/>
                    <a:p>
                      <a:r>
                        <a:rPr lang="en-US" dirty="0"/>
                        <a:t>Layer</a:t>
                      </a:r>
                      <a:endParaRPr lang="en-IN" dirty="0"/>
                    </a:p>
                  </a:txBody>
                  <a:tcPr marL="100910" marR="100910"/>
                </a:tc>
                <a:tc>
                  <a:txBody>
                    <a:bodyPr/>
                    <a:lstStyle/>
                    <a:p>
                      <a:r>
                        <a:rPr lang="en-IN" dirty="0"/>
                        <a:t>Open-Source Technology</a:t>
                      </a:r>
                    </a:p>
                  </a:txBody>
                  <a:tcPr marL="100910" marR="100910"/>
                </a:tc>
                <a:extLst>
                  <a:ext uri="{0D108BD9-81ED-4DB2-BD59-A6C34878D82A}">
                    <a16:rowId xmlns:a16="http://schemas.microsoft.com/office/drawing/2014/main" val="796045321"/>
                  </a:ext>
                </a:extLst>
              </a:tr>
              <a:tr h="773150">
                <a:tc>
                  <a:txBody>
                    <a:bodyPr/>
                    <a:lstStyle/>
                    <a:p>
                      <a:r>
                        <a:rPr lang="en-IN" dirty="0"/>
                        <a:t>Document Parsing</a:t>
                      </a:r>
                    </a:p>
                  </a:txBody>
                  <a:tcPr marL="100910" marR="100910"/>
                </a:tc>
                <a:tc>
                  <a:txBody>
                    <a:bodyPr/>
                    <a:lstStyle/>
                    <a:p>
                      <a:r>
                        <a:rPr lang="en-US" dirty="0" err="1"/>
                        <a:t>PyMuPDF</a:t>
                      </a:r>
                      <a:r>
                        <a:rPr lang="en-US" dirty="0"/>
                        <a:t> + </a:t>
                      </a:r>
                      <a:r>
                        <a:rPr lang="en-US" dirty="0" err="1"/>
                        <a:t>pdfplumber</a:t>
                      </a:r>
                      <a:r>
                        <a:rPr lang="en-US" dirty="0"/>
                        <a:t> + </a:t>
                      </a:r>
                      <a:r>
                        <a:rPr lang="en-US" dirty="0" err="1"/>
                        <a:t>BeautifulSoup</a:t>
                      </a:r>
                      <a:r>
                        <a:rPr lang="en-US" dirty="0"/>
                        <a:t> for scraping  </a:t>
                      </a:r>
                      <a:endParaRPr lang="en-IN" dirty="0"/>
                    </a:p>
                  </a:txBody>
                  <a:tcPr marL="100910" marR="100910"/>
                </a:tc>
                <a:extLst>
                  <a:ext uri="{0D108BD9-81ED-4DB2-BD59-A6C34878D82A}">
                    <a16:rowId xmlns:a16="http://schemas.microsoft.com/office/drawing/2014/main" val="2295941272"/>
                  </a:ext>
                </a:extLst>
              </a:tr>
              <a:tr h="447936">
                <a:tc>
                  <a:txBody>
                    <a:bodyPr/>
                    <a:lstStyle/>
                    <a:p>
                      <a:r>
                        <a:rPr lang="en-IN" dirty="0"/>
                        <a:t>Embeddings</a:t>
                      </a:r>
                    </a:p>
                  </a:txBody>
                  <a:tcPr marL="100910" marR="100910"/>
                </a:tc>
                <a:tc>
                  <a:txBody>
                    <a:bodyPr/>
                    <a:lstStyle/>
                    <a:p>
                      <a:r>
                        <a:rPr lang="en-IN" dirty="0"/>
                        <a:t>legal-</a:t>
                      </a:r>
                      <a:r>
                        <a:rPr lang="en-IN" dirty="0" err="1"/>
                        <a:t>bert</a:t>
                      </a:r>
                      <a:r>
                        <a:rPr lang="en-IN" dirty="0"/>
                        <a:t> from </a:t>
                      </a:r>
                      <a:r>
                        <a:rPr lang="en-IN" dirty="0" err="1"/>
                        <a:t>HuggingFace</a:t>
                      </a:r>
                      <a:endParaRPr lang="en-IN" dirty="0"/>
                    </a:p>
                  </a:txBody>
                  <a:tcPr marL="100910" marR="100910"/>
                </a:tc>
                <a:extLst>
                  <a:ext uri="{0D108BD9-81ED-4DB2-BD59-A6C34878D82A}">
                    <a16:rowId xmlns:a16="http://schemas.microsoft.com/office/drawing/2014/main" val="3821718340"/>
                  </a:ext>
                </a:extLst>
              </a:tr>
              <a:tr h="447936">
                <a:tc>
                  <a:txBody>
                    <a:bodyPr/>
                    <a:lstStyle/>
                    <a:p>
                      <a:r>
                        <a:rPr lang="en-IN" dirty="0"/>
                        <a:t>Vector Store</a:t>
                      </a:r>
                    </a:p>
                  </a:txBody>
                  <a:tcPr marL="100910" marR="100910"/>
                </a:tc>
                <a:tc>
                  <a:txBody>
                    <a:bodyPr/>
                    <a:lstStyle/>
                    <a:p>
                      <a:r>
                        <a:rPr lang="en-US" dirty="0" err="1"/>
                        <a:t>Qdrant</a:t>
                      </a:r>
                      <a:r>
                        <a:rPr lang="en-US" dirty="0"/>
                        <a:t> (Docker, self-hosted, open-source, free)</a:t>
                      </a:r>
                      <a:endParaRPr lang="en-IN" dirty="0"/>
                    </a:p>
                  </a:txBody>
                  <a:tcPr marL="100910" marR="100910"/>
                </a:tc>
                <a:extLst>
                  <a:ext uri="{0D108BD9-81ED-4DB2-BD59-A6C34878D82A}">
                    <a16:rowId xmlns:a16="http://schemas.microsoft.com/office/drawing/2014/main" val="2750868976"/>
                  </a:ext>
                </a:extLst>
              </a:tr>
              <a:tr h="773150">
                <a:tc>
                  <a:txBody>
                    <a:bodyPr/>
                    <a:lstStyle/>
                    <a:p>
                      <a:r>
                        <a:rPr lang="en-IN" dirty="0"/>
                        <a:t>Retrieval</a:t>
                      </a:r>
                    </a:p>
                  </a:txBody>
                  <a:tcPr marL="100910" marR="100910"/>
                </a:tc>
                <a:tc>
                  <a:txBody>
                    <a:bodyPr/>
                    <a:lstStyle/>
                    <a:p>
                      <a:r>
                        <a:rPr lang="en-US" dirty="0"/>
                        <a:t>Hybrid BM25 + dense search + cross-encoder/</a:t>
                      </a:r>
                      <a:r>
                        <a:rPr lang="en-US" dirty="0" err="1"/>
                        <a:t>ms-marco</a:t>
                      </a:r>
                      <a:r>
                        <a:rPr lang="en-US" dirty="0"/>
                        <a:t> (</a:t>
                      </a:r>
                      <a:r>
                        <a:rPr lang="en-US" dirty="0" err="1"/>
                        <a:t>HuggingFace</a:t>
                      </a:r>
                      <a:r>
                        <a:rPr lang="en-US" dirty="0"/>
                        <a:t>, free) + LLM query expansion</a:t>
                      </a:r>
                      <a:endParaRPr lang="en-IN" dirty="0"/>
                    </a:p>
                  </a:txBody>
                  <a:tcPr marL="100910" marR="100910"/>
                </a:tc>
                <a:extLst>
                  <a:ext uri="{0D108BD9-81ED-4DB2-BD59-A6C34878D82A}">
                    <a16:rowId xmlns:a16="http://schemas.microsoft.com/office/drawing/2014/main" val="1967892122"/>
                  </a:ext>
                </a:extLst>
              </a:tr>
              <a:tr h="447936">
                <a:tc>
                  <a:txBody>
                    <a:bodyPr/>
                    <a:lstStyle/>
                    <a:p>
                      <a:r>
                        <a:rPr lang="en-IN" dirty="0"/>
                        <a:t>LLM</a:t>
                      </a:r>
                    </a:p>
                  </a:txBody>
                  <a:tcPr marL="100910" marR="100910"/>
                </a:tc>
                <a:tc>
                  <a:txBody>
                    <a:bodyPr/>
                    <a:lstStyle/>
                    <a:p>
                      <a:r>
                        <a:rPr lang="en-IN" dirty="0" err="1"/>
                        <a:t>Ollama</a:t>
                      </a:r>
                      <a:r>
                        <a:rPr lang="en-IN" dirty="0"/>
                        <a:t> + Llama 3.1 70B-Q4</a:t>
                      </a:r>
                    </a:p>
                  </a:txBody>
                  <a:tcPr marL="100910" marR="100910"/>
                </a:tc>
                <a:extLst>
                  <a:ext uri="{0D108BD9-81ED-4DB2-BD59-A6C34878D82A}">
                    <a16:rowId xmlns:a16="http://schemas.microsoft.com/office/drawing/2014/main" val="946935523"/>
                  </a:ext>
                </a:extLst>
              </a:tr>
              <a:tr h="447936">
                <a:tc>
                  <a:txBody>
                    <a:bodyPr/>
                    <a:lstStyle/>
                    <a:p>
                      <a:r>
                        <a:rPr lang="en-IN" dirty="0"/>
                        <a:t>Backend</a:t>
                      </a:r>
                    </a:p>
                  </a:txBody>
                  <a:tcPr marL="100910" marR="100910"/>
                </a:tc>
                <a:tc>
                  <a:txBody>
                    <a:bodyPr/>
                    <a:lstStyle/>
                    <a:p>
                      <a:r>
                        <a:rPr lang="es-ES" dirty="0" err="1"/>
                        <a:t>FastAPI</a:t>
                      </a:r>
                      <a:r>
                        <a:rPr lang="es-ES" dirty="0"/>
                        <a:t> + </a:t>
                      </a:r>
                      <a:r>
                        <a:rPr lang="es-ES" dirty="0" err="1"/>
                        <a:t>Pydantic</a:t>
                      </a:r>
                      <a:endParaRPr lang="en-IN" dirty="0"/>
                    </a:p>
                  </a:txBody>
                  <a:tcPr marL="100910" marR="100910"/>
                </a:tc>
                <a:extLst>
                  <a:ext uri="{0D108BD9-81ED-4DB2-BD59-A6C34878D82A}">
                    <a16:rowId xmlns:a16="http://schemas.microsoft.com/office/drawing/2014/main" val="3428261514"/>
                  </a:ext>
                </a:extLst>
              </a:tr>
              <a:tr h="447936">
                <a:tc>
                  <a:txBody>
                    <a:bodyPr/>
                    <a:lstStyle/>
                    <a:p>
                      <a:r>
                        <a:rPr lang="en-IN" dirty="0"/>
                        <a:t>Frontend</a:t>
                      </a:r>
                    </a:p>
                  </a:txBody>
                  <a:tcPr marL="100910" marR="100910"/>
                </a:tc>
                <a:tc>
                  <a:txBody>
                    <a:bodyPr/>
                    <a:lstStyle/>
                    <a:p>
                      <a:r>
                        <a:rPr lang="en-IN" dirty="0" err="1"/>
                        <a:t>Streamlit</a:t>
                      </a:r>
                      <a:r>
                        <a:rPr lang="en-IN" dirty="0"/>
                        <a:t> </a:t>
                      </a:r>
                    </a:p>
                  </a:txBody>
                  <a:tcPr marL="100910" marR="100910"/>
                </a:tc>
                <a:extLst>
                  <a:ext uri="{0D108BD9-81ED-4DB2-BD59-A6C34878D82A}">
                    <a16:rowId xmlns:a16="http://schemas.microsoft.com/office/drawing/2014/main" val="4254895733"/>
                  </a:ext>
                </a:extLst>
              </a:tr>
              <a:tr h="447936">
                <a:tc>
                  <a:txBody>
                    <a:bodyPr/>
                    <a:lstStyle/>
                    <a:p>
                      <a:r>
                        <a:rPr lang="en-IN" dirty="0"/>
                        <a:t>Deployment</a:t>
                      </a:r>
                    </a:p>
                  </a:txBody>
                  <a:tcPr marL="100910" marR="100910"/>
                </a:tc>
                <a:tc>
                  <a:txBody>
                    <a:bodyPr/>
                    <a:lstStyle/>
                    <a:p>
                      <a:r>
                        <a:rPr lang="en-US" dirty="0"/>
                        <a:t>Docker Compose local or Oracle Cloud Always Free VM (4</a:t>
                      </a:r>
                      <a:endParaRPr lang="en-IN" dirty="0"/>
                    </a:p>
                  </a:txBody>
                  <a:tcPr marL="100910" marR="100910"/>
                </a:tc>
                <a:extLst>
                  <a:ext uri="{0D108BD9-81ED-4DB2-BD59-A6C34878D82A}">
                    <a16:rowId xmlns:a16="http://schemas.microsoft.com/office/drawing/2014/main" val="3174950974"/>
                  </a:ext>
                </a:extLst>
              </a:tr>
              <a:tr h="447936">
                <a:tc>
                  <a:txBody>
                    <a:bodyPr/>
                    <a:lstStyle/>
                    <a:p>
                      <a:r>
                        <a:rPr lang="en-IN" dirty="0"/>
                        <a:t>Export</a:t>
                      </a:r>
                    </a:p>
                  </a:txBody>
                  <a:tcPr marL="100910" marR="100910"/>
                </a:tc>
                <a:tc>
                  <a:txBody>
                    <a:bodyPr/>
                    <a:lstStyle/>
                    <a:p>
                      <a:r>
                        <a:rPr lang="en-US" dirty="0"/>
                        <a:t>python-docx for Word export</a:t>
                      </a:r>
                      <a:endParaRPr lang="en-IN" dirty="0"/>
                    </a:p>
                  </a:txBody>
                  <a:tcPr marL="100910" marR="100910"/>
                </a:tc>
                <a:extLst>
                  <a:ext uri="{0D108BD9-81ED-4DB2-BD59-A6C34878D82A}">
                    <a16:rowId xmlns:a16="http://schemas.microsoft.com/office/drawing/2014/main" val="97494831"/>
                  </a:ext>
                </a:extLst>
              </a:tr>
            </a:tbl>
          </a:graphicData>
        </a:graphic>
      </p:graphicFrame>
    </p:spTree>
    <p:extLst>
      <p:ext uri="{BB962C8B-B14F-4D97-AF65-F5344CB8AC3E}">
        <p14:creationId xmlns:p14="http://schemas.microsoft.com/office/powerpoint/2010/main" val="28892543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26718-ADAE-5DD0-D3C3-971913833A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2066B6-F615-2EF9-AA0A-31F9A8054514}"/>
              </a:ext>
            </a:extLst>
          </p:cNvPr>
          <p:cNvSpPr>
            <a:spLocks noGrp="1"/>
          </p:cNvSpPr>
          <p:nvPr>
            <p:ph type="title"/>
          </p:nvPr>
        </p:nvSpPr>
        <p:spPr/>
        <p:txBody>
          <a:bodyPr/>
          <a:lstStyle/>
          <a:p>
            <a:r>
              <a:rPr lang="en-US" dirty="0"/>
              <a:t>Citations</a:t>
            </a:r>
            <a:endParaRPr lang="en-IN" dirty="0"/>
          </a:p>
        </p:txBody>
      </p:sp>
      <p:sp>
        <p:nvSpPr>
          <p:cNvPr id="3" name="Content Placeholder 2">
            <a:extLst>
              <a:ext uri="{FF2B5EF4-FFF2-40B4-BE49-F238E27FC236}">
                <a16:creationId xmlns:a16="http://schemas.microsoft.com/office/drawing/2014/main" id="{66CEF839-4C3B-FAD8-41E0-9146E443C015}"/>
              </a:ext>
            </a:extLst>
          </p:cNvPr>
          <p:cNvSpPr>
            <a:spLocks noGrp="1"/>
          </p:cNvSpPr>
          <p:nvPr>
            <p:ph idx="1"/>
          </p:nvPr>
        </p:nvSpPr>
        <p:spPr/>
        <p:txBody>
          <a:bodyPr>
            <a:normAutofit/>
          </a:bodyPr>
          <a:lstStyle/>
          <a:p>
            <a:r>
              <a:rPr lang="en-IN" dirty="0" err="1"/>
              <a:t>Dhagat</a:t>
            </a:r>
            <a:r>
              <a:rPr lang="en-IN" dirty="0"/>
              <a:t>, N., Dabhi, V. K., Prajapati, H. B., &amp; Barad, Z. J. (2026). Telephony Voice Agent for Banking Services. </a:t>
            </a:r>
            <a:r>
              <a:rPr lang="en-IN" i="1" dirty="0" err="1"/>
              <a:t>arXiv</a:t>
            </a:r>
            <a:r>
              <a:rPr lang="en-IN" i="1" dirty="0"/>
              <a:t> preprint arXiv:2606.28779</a:t>
            </a:r>
            <a:r>
              <a:rPr lang="en-IN" dirty="0"/>
              <a:t>.</a:t>
            </a:r>
          </a:p>
          <a:p>
            <a:r>
              <a:rPr lang="en-IN" dirty="0"/>
              <a:t>Oruganti, S. C. (2020). Virtual bank assistance: An AI based voice bot for better banking. </a:t>
            </a:r>
            <a:r>
              <a:rPr lang="en-IN" i="1" dirty="0"/>
              <a:t>Int J Res</a:t>
            </a:r>
            <a:r>
              <a:rPr lang="en-IN" dirty="0"/>
              <a:t>, </a:t>
            </a:r>
            <a:r>
              <a:rPr lang="en-IN" i="1" dirty="0"/>
              <a:t>9</a:t>
            </a:r>
            <a:r>
              <a:rPr lang="en-IN" dirty="0"/>
              <a:t>(1), 177-83.</a:t>
            </a:r>
          </a:p>
          <a:p>
            <a:r>
              <a:rPr lang="en-IN" dirty="0" err="1"/>
              <a:t>Dhagat</a:t>
            </a:r>
            <a:r>
              <a:rPr lang="en-IN" dirty="0"/>
              <a:t>, N., Dabhi, V. K., Prajapati, H. B., &amp; Barad, Z. J. (2026). Telephony Voice Agent for Banking Services. </a:t>
            </a:r>
            <a:r>
              <a:rPr lang="en-IN" i="1" dirty="0" err="1"/>
              <a:t>arXiv</a:t>
            </a:r>
            <a:r>
              <a:rPr lang="en-IN" i="1" dirty="0"/>
              <a:t> preprint arXiv:2606.28779</a:t>
            </a:r>
            <a:r>
              <a:rPr lang="en-IN" dirty="0"/>
              <a:t>.</a:t>
            </a:r>
          </a:p>
          <a:p>
            <a:r>
              <a:rPr lang="en-IN" dirty="0"/>
              <a:t>Inala, R., &amp; Somu, B. (2024). Agentic ai in retail banking: Redefining customer service and financial decision-making. </a:t>
            </a:r>
            <a:r>
              <a:rPr lang="en-IN" i="1" dirty="0"/>
              <a:t>Journal of Artificial Intelligence and Big Data Disciplines</a:t>
            </a:r>
            <a:r>
              <a:rPr lang="en-IN" dirty="0"/>
              <a:t>, </a:t>
            </a:r>
            <a:r>
              <a:rPr lang="en-IN" i="1" dirty="0"/>
              <a:t>1</a:t>
            </a:r>
            <a:r>
              <a:rPr lang="en-IN" dirty="0"/>
              <a:t>(1), 1-19.</a:t>
            </a:r>
          </a:p>
        </p:txBody>
      </p:sp>
    </p:spTree>
    <p:extLst>
      <p:ext uri="{BB962C8B-B14F-4D97-AF65-F5344CB8AC3E}">
        <p14:creationId xmlns:p14="http://schemas.microsoft.com/office/powerpoint/2010/main" val="17719256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33310-BFD8-56C2-B5E3-B50C250939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B69C44-C673-B546-047A-419DB72261FC}"/>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91C67ABA-FE02-2AAE-62FB-B8598B670EAE}"/>
              </a:ext>
            </a:extLst>
          </p:cNvPr>
          <p:cNvSpPr>
            <a:spLocks noGrp="1"/>
          </p:cNvSpPr>
          <p:nvPr>
            <p:ph idx="1"/>
          </p:nvPr>
        </p:nvSpPr>
        <p:spPr/>
        <p:txBody>
          <a:bodyPr>
            <a:normAutofit/>
          </a:bodyPr>
          <a:lstStyle/>
          <a:p>
            <a:r>
              <a:rPr lang="en-IN" dirty="0"/>
              <a:t>Sunkara, V. L. B., &amp; Dhanasekaran, S. Transforming Mobile Banking with Conversational AI and Voice Recognition.</a:t>
            </a:r>
          </a:p>
          <a:p>
            <a:r>
              <a:rPr lang="en-IN" dirty="0"/>
              <a:t>Inala, R., &amp; Somu, B. (2025). Building trustworthy agentic AI systems for personalized banking experiences. </a:t>
            </a:r>
            <a:r>
              <a:rPr lang="en-IN" i="1" dirty="0"/>
              <a:t>Metallurgical and Materials Engineering</a:t>
            </a:r>
            <a:r>
              <a:rPr lang="en-IN" dirty="0"/>
              <a:t>, </a:t>
            </a:r>
            <a:r>
              <a:rPr lang="en-IN" i="1" dirty="0"/>
              <a:t>31</a:t>
            </a:r>
            <a:r>
              <a:rPr lang="en-IN" dirty="0"/>
              <a:t>(5), 1336-1360.</a:t>
            </a:r>
          </a:p>
          <a:p>
            <a:r>
              <a:rPr lang="en-IN" dirty="0"/>
              <a:t>Singh, P. (2025). Leveraging AI for Real-Time Customer Support in Telecommunications.</a:t>
            </a:r>
          </a:p>
          <a:p>
            <a:r>
              <a:rPr lang="en-IN" dirty="0"/>
              <a:t>Chugh, S., &amp; Pondal, P. (2025). Human-Computer Interaction with Voice-Driven AI Chatbots. </a:t>
            </a:r>
            <a:r>
              <a:rPr lang="en-IN" i="1" dirty="0"/>
              <a:t>Int. J. Sci. Res. Eng. Manag.</a:t>
            </a:r>
            <a:r>
              <a:rPr lang="en-IN" dirty="0"/>
              <a:t>, </a:t>
            </a:r>
            <a:r>
              <a:rPr lang="en-IN" i="1" dirty="0"/>
              <a:t>9</a:t>
            </a:r>
            <a:r>
              <a:rPr lang="en-IN" dirty="0"/>
              <a:t>(05), 1-9.</a:t>
            </a:r>
          </a:p>
        </p:txBody>
      </p:sp>
    </p:spTree>
    <p:extLst>
      <p:ext uri="{BB962C8B-B14F-4D97-AF65-F5344CB8AC3E}">
        <p14:creationId xmlns:p14="http://schemas.microsoft.com/office/powerpoint/2010/main" val="35818825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F664E-6C7F-ED31-C5F2-AC6154D413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E74CBD-3BCE-AB1C-B7A0-55AF34786CB8}"/>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85BBED03-0DBC-E411-C1AF-CE18EC85272F}"/>
              </a:ext>
            </a:extLst>
          </p:cNvPr>
          <p:cNvSpPr>
            <a:spLocks noGrp="1"/>
          </p:cNvSpPr>
          <p:nvPr>
            <p:ph idx="1"/>
          </p:nvPr>
        </p:nvSpPr>
        <p:spPr/>
        <p:txBody>
          <a:bodyPr>
            <a:normAutofit/>
          </a:bodyPr>
          <a:lstStyle/>
          <a:p>
            <a:r>
              <a:rPr lang="en-IN" dirty="0"/>
              <a:t>Anand, L. G. (2025). From Voice to Value: The Expanding Role of AI in Communication and Financial Services.</a:t>
            </a:r>
          </a:p>
          <a:p>
            <a:r>
              <a:rPr lang="en-IN" dirty="0" err="1"/>
              <a:t>Chitraju</a:t>
            </a:r>
            <a:r>
              <a:rPr lang="en-IN" dirty="0"/>
              <a:t>, S. (2025). Smart Systems, Smarter Decisions: AI Applications in Voice Recognition, User Support, and Financial Services. </a:t>
            </a:r>
            <a:r>
              <a:rPr lang="en-IN" i="1" dirty="0"/>
              <a:t>Smarter Decisions: AI Applications in Voice Recognition, User Support, and Financial Services (August 18, 2025)</a:t>
            </a:r>
            <a:r>
              <a:rPr lang="en-IN" dirty="0"/>
              <a:t>.</a:t>
            </a:r>
          </a:p>
          <a:p>
            <a:r>
              <a:rPr lang="en-IN" dirty="0" err="1"/>
              <a:t>Henkens</a:t>
            </a:r>
            <a:r>
              <a:rPr lang="en-IN" dirty="0"/>
              <a:t>, B., Schultz, C. D., De Keyser, A., &amp; Mahr, D. (2026). The sound of progress: AI voice agents in service. </a:t>
            </a:r>
            <a:r>
              <a:rPr lang="en-IN" i="1" dirty="0"/>
              <a:t>Journal of Service Management</a:t>
            </a:r>
            <a:r>
              <a:rPr lang="en-IN" dirty="0"/>
              <a:t>, </a:t>
            </a:r>
            <a:r>
              <a:rPr lang="en-IN" i="1" dirty="0"/>
              <a:t>37</a:t>
            </a:r>
            <a:r>
              <a:rPr lang="en-IN" dirty="0"/>
              <a:t>(1), 1-32.</a:t>
            </a:r>
          </a:p>
          <a:p>
            <a:r>
              <a:rPr lang="en-IN" dirty="0"/>
              <a:t>Parthiban, E. S., &amp; Adil, M. (2023). Trends in the AI-based banking conversational agents literature: a bibliometric review. </a:t>
            </a:r>
            <a:r>
              <a:rPr lang="en-IN" i="1" dirty="0"/>
              <a:t>Asia pacific journal of information systems</a:t>
            </a:r>
            <a:r>
              <a:rPr lang="en-IN" dirty="0"/>
              <a:t>, </a:t>
            </a:r>
            <a:r>
              <a:rPr lang="en-IN" i="1" dirty="0"/>
              <a:t>33</a:t>
            </a:r>
            <a:r>
              <a:rPr lang="en-IN" dirty="0"/>
              <a:t>(3), 702-736.</a:t>
            </a:r>
          </a:p>
        </p:txBody>
      </p:sp>
    </p:spTree>
    <p:extLst>
      <p:ext uri="{BB962C8B-B14F-4D97-AF65-F5344CB8AC3E}">
        <p14:creationId xmlns:p14="http://schemas.microsoft.com/office/powerpoint/2010/main" val="528996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7AC10E-BAA4-0871-F56B-4D6EB74AB5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0092DC-C61C-3B18-D742-1900F41B2E12}"/>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EF2EE86E-AFC8-8DF6-B6AB-4A95D13DACF1}"/>
              </a:ext>
            </a:extLst>
          </p:cNvPr>
          <p:cNvSpPr>
            <a:spLocks noGrp="1"/>
          </p:cNvSpPr>
          <p:nvPr>
            <p:ph idx="1"/>
          </p:nvPr>
        </p:nvSpPr>
        <p:spPr/>
        <p:txBody>
          <a:bodyPr>
            <a:normAutofit/>
          </a:bodyPr>
          <a:lstStyle/>
          <a:p>
            <a:r>
              <a:rPr lang="en-IN" dirty="0"/>
              <a:t>Mastrandrea, M. (2024). </a:t>
            </a:r>
            <a:r>
              <a:rPr lang="en-IN" i="1" dirty="0"/>
              <a:t>Developing an AI-Powered Voice Assistant for an iOS Payment App</a:t>
            </a:r>
            <a:r>
              <a:rPr lang="en-IN" dirty="0"/>
              <a:t> (Doctoral dissertation, </a:t>
            </a:r>
            <a:r>
              <a:rPr lang="en-IN" dirty="0" err="1"/>
              <a:t>Politecnico</a:t>
            </a:r>
            <a:r>
              <a:rPr lang="en-IN" dirty="0"/>
              <a:t> di Torino).</a:t>
            </a:r>
          </a:p>
          <a:p>
            <a:r>
              <a:rPr lang="en-IN" dirty="0"/>
              <a:t>Doherty, D., &amp; Curran, K. (2019, December). Chatbots for online banking services. In </a:t>
            </a:r>
            <a:r>
              <a:rPr lang="en-IN" i="1" dirty="0"/>
              <a:t>Web Intelligence</a:t>
            </a:r>
            <a:r>
              <a:rPr lang="en-IN" dirty="0"/>
              <a:t> (Vol. 17, No. 4, pp. 327-342). Sage UK: London, England: SAGE Publications.</a:t>
            </a:r>
          </a:p>
          <a:p>
            <a:r>
              <a:rPr lang="en-IN" dirty="0"/>
              <a:t>Paul, V. (2025). Voice AI Agents: The Technical Backbone of Modern Speech Interfaces. </a:t>
            </a:r>
            <a:r>
              <a:rPr lang="en-IN" i="1" dirty="0"/>
              <a:t>Journal Of Multidisciplinary</a:t>
            </a:r>
            <a:r>
              <a:rPr lang="en-IN" dirty="0"/>
              <a:t>, </a:t>
            </a:r>
            <a:r>
              <a:rPr lang="en-IN" i="1" dirty="0"/>
              <a:t>5</a:t>
            </a:r>
            <a:r>
              <a:rPr lang="en-IN" dirty="0"/>
              <a:t>(7), 610-617.</a:t>
            </a:r>
          </a:p>
        </p:txBody>
      </p:sp>
    </p:spTree>
    <p:extLst>
      <p:ext uri="{BB962C8B-B14F-4D97-AF65-F5344CB8AC3E}">
        <p14:creationId xmlns:p14="http://schemas.microsoft.com/office/powerpoint/2010/main" val="3833798129"/>
      </p:ext>
    </p:extLst>
  </p:cSld>
  <p:clrMapOvr>
    <a:masterClrMapping/>
  </p:clrMapOvr>
</p:sld>
</file>

<file path=ppt/theme/theme1.xml><?xml version="1.0" encoding="utf-8"?>
<a:theme xmlns:a="http://schemas.openxmlformats.org/drawingml/2006/main" name="Frame">
  <a:themeElements>
    <a:clrScheme name="Frame">
      <a:dk1>
        <a:srgbClr val="000000"/>
      </a:dk1>
      <a:lt1>
        <a:srgbClr val="FFFFFF"/>
      </a:lt1>
      <a:dk2>
        <a:srgbClr val="545454"/>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Frame">
      <a:maj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Frame">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20000"/>
                <a:lumMod val="102000"/>
              </a:schemeClr>
            </a:gs>
            <a:gs pos="48000">
              <a:schemeClr val="phClr">
                <a:tint val="98000"/>
                <a:shade val="90000"/>
                <a:satMod val="110000"/>
                <a:lumMod val="103000"/>
              </a:schemeClr>
            </a:gs>
            <a:gs pos="100000">
              <a:schemeClr val="phClr">
                <a:tint val="98000"/>
                <a:shade val="80000"/>
                <a:satMod val="100000"/>
              </a:schemeClr>
            </a:gs>
          </a:gsLst>
          <a:lin ang="5400000" scaled="0"/>
        </a:gradFill>
      </a:bgFillStyleLst>
    </a:fmtScheme>
  </a:themeElements>
  <a:objectDefaults/>
  <a:extraClrSchemeLst/>
  <a:extLst>
    <a:ext uri="{05A4C25C-085E-4340-85A3-A5531E510DB2}">
      <thm15:themeFamily xmlns:thm15="http://schemas.microsoft.com/office/thememl/2012/main" name="Frame" id="{F226E7A2-7162-461C-9490-D27D9DC04E43}" vid="{629A0216-3BBD-45C0-B63F-2683BEA18F60}"/>
    </a:ext>
  </a:extLst>
</a:theme>
</file>

<file path=docProps/app.xml><?xml version="1.0" encoding="utf-8"?>
<Properties xmlns="http://schemas.openxmlformats.org/officeDocument/2006/extended-properties" xmlns:vt="http://schemas.openxmlformats.org/officeDocument/2006/docPropsVTypes">
  <Template>TM03457475[[fn=Frame]]</Template>
  <TotalTime>212</TotalTime>
  <Words>1103</Words>
  <Application>Microsoft Office PowerPoint</Application>
  <PresentationFormat>Widescreen</PresentationFormat>
  <Paragraphs>94</Paragraphs>
  <Slides>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Corbel</vt:lpstr>
      <vt:lpstr>Wingdings 2</vt:lpstr>
      <vt:lpstr>Frame</vt:lpstr>
      <vt:lpstr>Real-Time Voice AI Agent for Banking Support &amp; Legal Research Assistant for Indian Courts</vt:lpstr>
      <vt:lpstr>Real-Time Voice AI Agent for Banking Support </vt:lpstr>
      <vt:lpstr>Legal Research Assistant for Indian Courts</vt:lpstr>
      <vt:lpstr>Technical Stack</vt:lpstr>
      <vt:lpstr>Technical Stack</vt:lpstr>
      <vt:lpstr>Citations</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Aryan Arora</dc:creator>
  <cp:lastModifiedBy>Aryan Arora</cp:lastModifiedBy>
  <cp:revision>5</cp:revision>
  <dcterms:created xsi:type="dcterms:W3CDTF">2026-08-23T17:02:43Z</dcterms:created>
  <dcterms:modified xsi:type="dcterms:W3CDTF">2026-08-28T05:45:04Z</dcterms:modified>
</cp:coreProperties>
</file>