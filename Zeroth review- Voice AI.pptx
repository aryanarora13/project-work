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63" r:id="rId5"/>
    <p:sldId id="264" r:id="rId6"/>
    <p:sldId id="265" r:id="rId7"/>
    <p:sldId id="266" r:id="rId8"/>
    <p:sldId id="262" r:id="rId9"/>
    <p:sldId id="258" r:id="rId10"/>
    <p:sldId id="259" r:id="rId11"/>
    <p:sldId id="26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62257B-BBBF-49CD-A5DD-C3850C73CE74}" v="22" dt="2026-08-27T13:45:32.717"/>
    <p1510:client id="{FE4B861C-592A-455A-B092-D6E87EE04346}" v="1" dt="2026-08-27T17:59:51.3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yan Arora" userId="b787227e2ec070f4" providerId="LiveId" clId="{A65BE4C5-78DA-47DB-89A3-56F4EE9C9206}"/>
    <pc:docChg chg="undo custSel addSld modSld">
      <pc:chgData name="Aryan Arora" userId="b787227e2ec070f4" providerId="LiveId" clId="{A65BE4C5-78DA-47DB-89A3-56F4EE9C9206}" dt="2026-08-27T17:59:51.271" v="240"/>
      <pc:docMkLst>
        <pc:docMk/>
      </pc:docMkLst>
      <pc:sldChg chg="modSp new">
        <pc:chgData name="Aryan Arora" userId="b787227e2ec070f4" providerId="LiveId" clId="{A65BE4C5-78DA-47DB-89A3-56F4EE9C9206}" dt="2026-08-23T18:20:21.570" v="165"/>
        <pc:sldMkLst>
          <pc:docMk/>
          <pc:sldMk cId="2511129951" sldId="256"/>
        </pc:sldMkLst>
        <pc:spChg chg="mod">
          <ac:chgData name="Aryan Arora" userId="b787227e2ec070f4" providerId="LiveId" clId="{A65BE4C5-78DA-47DB-89A3-56F4EE9C9206}" dt="2026-08-23T18:20:21.570" v="165"/>
          <ac:spMkLst>
            <pc:docMk/>
            <pc:sldMk cId="2511129951" sldId="256"/>
            <ac:spMk id="2" creationId="{1A95EE6D-205B-0269-7345-B80B16FCED1E}"/>
          </ac:spMkLst>
        </pc:spChg>
      </pc:sldChg>
      <pc:sldChg chg="modSp new mod">
        <pc:chgData name="Aryan Arora" userId="b787227e2ec070f4" providerId="LiveId" clId="{A65BE4C5-78DA-47DB-89A3-56F4EE9C9206}" dt="2026-08-23T18:17:27.782" v="120" actId="20577"/>
        <pc:sldMkLst>
          <pc:docMk/>
          <pc:sldMk cId="2470409146" sldId="257"/>
        </pc:sldMkLst>
        <pc:spChg chg="mod">
          <ac:chgData name="Aryan Arora" userId="b787227e2ec070f4" providerId="LiveId" clId="{A65BE4C5-78DA-47DB-89A3-56F4EE9C9206}" dt="2026-08-23T18:17:13.118" v="109" actId="20577"/>
          <ac:spMkLst>
            <pc:docMk/>
            <pc:sldMk cId="2470409146" sldId="257"/>
            <ac:spMk id="2" creationId="{962169DA-6F6C-52CA-596D-C7792DC2075A}"/>
          </ac:spMkLst>
        </pc:spChg>
        <pc:spChg chg="mod">
          <ac:chgData name="Aryan Arora" userId="b787227e2ec070f4" providerId="LiveId" clId="{A65BE4C5-78DA-47DB-89A3-56F4EE9C9206}" dt="2026-08-23T18:17:27.782" v="120" actId="20577"/>
          <ac:spMkLst>
            <pc:docMk/>
            <pc:sldMk cId="2470409146" sldId="257"/>
            <ac:spMk id="3" creationId="{DF8CC0C6-7675-AE22-8160-0E0C3991D8E6}"/>
          </ac:spMkLst>
        </pc:spChg>
      </pc:sldChg>
      <pc:sldChg chg="modSp add mod">
        <pc:chgData name="Aryan Arora" userId="b787227e2ec070f4" providerId="LiveId" clId="{A65BE4C5-78DA-47DB-89A3-56F4EE9C9206}" dt="2026-08-23T17:31:21.320" v="20"/>
        <pc:sldMkLst>
          <pc:docMk/>
          <pc:sldMk cId="3581882527" sldId="258"/>
        </pc:sldMkLst>
        <pc:spChg chg="mod">
          <ac:chgData name="Aryan Arora" userId="b787227e2ec070f4" providerId="LiveId" clId="{A65BE4C5-78DA-47DB-89A3-56F4EE9C9206}" dt="2026-08-23T17:31:21.320" v="20"/>
          <ac:spMkLst>
            <pc:docMk/>
            <pc:sldMk cId="3581882527" sldId="258"/>
            <ac:spMk id="3" creationId="{91C67ABA-FE02-2AAE-62FB-B8598B670EAE}"/>
          </ac:spMkLst>
        </pc:spChg>
      </pc:sldChg>
      <pc:sldChg chg="modSp add mod">
        <pc:chgData name="Aryan Arora" userId="b787227e2ec070f4" providerId="LiveId" clId="{A65BE4C5-78DA-47DB-89A3-56F4EE9C9206}" dt="2026-08-23T17:53:08.874" v="29" actId="27636"/>
        <pc:sldMkLst>
          <pc:docMk/>
          <pc:sldMk cId="52899601" sldId="259"/>
        </pc:sldMkLst>
        <pc:spChg chg="mod">
          <ac:chgData name="Aryan Arora" userId="b787227e2ec070f4" providerId="LiveId" clId="{A65BE4C5-78DA-47DB-89A3-56F4EE9C9206}" dt="2026-08-23T17:53:08.874" v="29" actId="27636"/>
          <ac:spMkLst>
            <pc:docMk/>
            <pc:sldMk cId="52899601" sldId="259"/>
            <ac:spMk id="3" creationId="{85BBED03-0DBC-E411-C1AF-CE18EC85272F}"/>
          </ac:spMkLst>
        </pc:spChg>
      </pc:sldChg>
      <pc:sldChg chg="modSp add mod">
        <pc:chgData name="Aryan Arora" userId="b787227e2ec070f4" providerId="LiveId" clId="{A65BE4C5-78DA-47DB-89A3-56F4EE9C9206}" dt="2026-08-23T18:08:05.602" v="37"/>
        <pc:sldMkLst>
          <pc:docMk/>
          <pc:sldMk cId="3833798129" sldId="260"/>
        </pc:sldMkLst>
        <pc:spChg chg="mod">
          <ac:chgData name="Aryan Arora" userId="b787227e2ec070f4" providerId="LiveId" clId="{A65BE4C5-78DA-47DB-89A3-56F4EE9C9206}" dt="2026-08-23T18:08:05.602" v="37"/>
          <ac:spMkLst>
            <pc:docMk/>
            <pc:sldMk cId="3833798129" sldId="260"/>
            <ac:spMk id="3" creationId="{EF2EE86E-AFC8-8DF6-B6AB-4A95D13DACF1}"/>
          </ac:spMkLst>
        </pc:spChg>
      </pc:sldChg>
      <pc:sldChg chg="modSp new mod">
        <pc:chgData name="Aryan Arora" userId="b787227e2ec070f4" providerId="LiveId" clId="{A65BE4C5-78DA-47DB-89A3-56F4EE9C9206}" dt="2026-08-23T18:11:40.547" v="74" actId="20577"/>
        <pc:sldMkLst>
          <pc:docMk/>
          <pc:sldMk cId="1465024936" sldId="261"/>
        </pc:sldMkLst>
        <pc:spChg chg="mod">
          <ac:chgData name="Aryan Arora" userId="b787227e2ec070f4" providerId="LiveId" clId="{A65BE4C5-78DA-47DB-89A3-56F4EE9C9206}" dt="2026-08-23T18:11:01.392" v="57" actId="20577"/>
          <ac:spMkLst>
            <pc:docMk/>
            <pc:sldMk cId="1465024936" sldId="261"/>
            <ac:spMk id="2" creationId="{197290E7-4F72-0E25-6210-7215851EABB0}"/>
          </ac:spMkLst>
        </pc:spChg>
        <pc:spChg chg="mod">
          <ac:chgData name="Aryan Arora" userId="b787227e2ec070f4" providerId="LiveId" clId="{A65BE4C5-78DA-47DB-89A3-56F4EE9C9206}" dt="2026-08-23T18:11:40.547" v="74" actId="20577"/>
          <ac:spMkLst>
            <pc:docMk/>
            <pc:sldMk cId="1465024936" sldId="261"/>
            <ac:spMk id="3" creationId="{3C88FDA5-DD38-F62F-E6EF-34577DDF65FE}"/>
          </ac:spMkLst>
        </pc:spChg>
      </pc:sldChg>
      <pc:sldChg chg="add">
        <pc:chgData name="Aryan Arora" userId="b787227e2ec070f4" providerId="LiveId" clId="{A65BE4C5-78DA-47DB-89A3-56F4EE9C9206}" dt="2026-08-23T18:15:29.006" v="84" actId="2890"/>
        <pc:sldMkLst>
          <pc:docMk/>
          <pc:sldMk cId="1771925662" sldId="262"/>
        </pc:sldMkLst>
      </pc:sldChg>
      <pc:sldChg chg="modSp add mod">
        <pc:chgData name="Aryan Arora" userId="b787227e2ec070f4" providerId="LiveId" clId="{A65BE4C5-78DA-47DB-89A3-56F4EE9C9206}" dt="2026-08-23T18:19:32.856" v="160"/>
        <pc:sldMkLst>
          <pc:docMk/>
          <pc:sldMk cId="3162752367" sldId="263"/>
        </pc:sldMkLst>
        <pc:spChg chg="mod">
          <ac:chgData name="Aryan Arora" userId="b787227e2ec070f4" providerId="LiveId" clId="{A65BE4C5-78DA-47DB-89A3-56F4EE9C9206}" dt="2026-08-23T18:18:42.789" v="149" actId="20577"/>
          <ac:spMkLst>
            <pc:docMk/>
            <pc:sldMk cId="3162752367" sldId="263"/>
            <ac:spMk id="2" creationId="{196ABBE1-CE10-E849-9B50-BF2B057982FB}"/>
          </ac:spMkLst>
        </pc:spChg>
        <pc:spChg chg="mod">
          <ac:chgData name="Aryan Arora" userId="b787227e2ec070f4" providerId="LiveId" clId="{A65BE4C5-78DA-47DB-89A3-56F4EE9C9206}" dt="2026-08-23T18:19:32.856" v="160"/>
          <ac:spMkLst>
            <pc:docMk/>
            <pc:sldMk cId="3162752367" sldId="263"/>
            <ac:spMk id="3" creationId="{33F11905-8014-F6A7-DFA7-867B7EC16577}"/>
          </ac:spMkLst>
        </pc:spChg>
      </pc:sldChg>
      <pc:sldChg chg="modSp add mod">
        <pc:chgData name="Aryan Arora" userId="b787227e2ec070f4" providerId="LiveId" clId="{A65BE4C5-78DA-47DB-89A3-56F4EE9C9206}" dt="2026-08-23T18:19:59.854" v="164"/>
        <pc:sldMkLst>
          <pc:docMk/>
          <pc:sldMk cId="2690772527" sldId="264"/>
        </pc:sldMkLst>
        <pc:spChg chg="mod">
          <ac:chgData name="Aryan Arora" userId="b787227e2ec070f4" providerId="LiveId" clId="{A65BE4C5-78DA-47DB-89A3-56F4EE9C9206}" dt="2026-08-23T18:19:59.854" v="164"/>
          <ac:spMkLst>
            <pc:docMk/>
            <pc:sldMk cId="2690772527" sldId="264"/>
            <ac:spMk id="3" creationId="{795B2290-71D1-3099-EEEE-E5F617219C7A}"/>
          </ac:spMkLst>
        </pc:spChg>
      </pc:sldChg>
      <pc:sldChg chg="modSp new mod">
        <pc:chgData name="Aryan Arora" userId="b787227e2ec070f4" providerId="LiveId" clId="{A65BE4C5-78DA-47DB-89A3-56F4EE9C9206}" dt="2026-08-27T12:46:56.266" v="191" actId="113"/>
        <pc:sldMkLst>
          <pc:docMk/>
          <pc:sldMk cId="4292092617" sldId="265"/>
        </pc:sldMkLst>
        <pc:spChg chg="mod">
          <ac:chgData name="Aryan Arora" userId="b787227e2ec070f4" providerId="LiveId" clId="{A65BE4C5-78DA-47DB-89A3-56F4EE9C9206}" dt="2026-08-27T12:46:08.690" v="173" actId="20577"/>
          <ac:spMkLst>
            <pc:docMk/>
            <pc:sldMk cId="4292092617" sldId="265"/>
            <ac:spMk id="2" creationId="{008EC106-2771-8066-4DD9-49DA5E5A541D}"/>
          </ac:spMkLst>
        </pc:spChg>
        <pc:spChg chg="mod">
          <ac:chgData name="Aryan Arora" userId="b787227e2ec070f4" providerId="LiveId" clId="{A65BE4C5-78DA-47DB-89A3-56F4EE9C9206}" dt="2026-08-27T12:46:56.266" v="191" actId="113"/>
          <ac:spMkLst>
            <pc:docMk/>
            <pc:sldMk cId="4292092617" sldId="265"/>
            <ac:spMk id="3" creationId="{90066223-E67F-DE1F-A9AA-FB1F9E4E7066}"/>
          </ac:spMkLst>
        </pc:spChg>
      </pc:sldChg>
      <pc:sldChg chg="addSp delSp modSp new mod">
        <pc:chgData name="Aryan Arora" userId="b787227e2ec070f4" providerId="LiveId" clId="{A65BE4C5-78DA-47DB-89A3-56F4EE9C9206}" dt="2026-08-27T17:59:51.271" v="240"/>
        <pc:sldMkLst>
          <pc:docMk/>
          <pc:sldMk cId="2385373051" sldId="266"/>
        </pc:sldMkLst>
        <pc:spChg chg="mod">
          <ac:chgData name="Aryan Arora" userId="b787227e2ec070f4" providerId="LiveId" clId="{A65BE4C5-78DA-47DB-89A3-56F4EE9C9206}" dt="2026-08-27T13:41:26.690" v="207" actId="20577"/>
          <ac:spMkLst>
            <pc:docMk/>
            <pc:sldMk cId="2385373051" sldId="266"/>
            <ac:spMk id="2" creationId="{89CAAA13-E3F3-0410-B78B-1B05EA91B141}"/>
          </ac:spMkLst>
        </pc:spChg>
        <pc:spChg chg="del">
          <ac:chgData name="Aryan Arora" userId="b787227e2ec070f4" providerId="LiveId" clId="{A65BE4C5-78DA-47DB-89A3-56F4EE9C9206}" dt="2026-08-27T13:41:56.741" v="208" actId="3680"/>
          <ac:spMkLst>
            <pc:docMk/>
            <pc:sldMk cId="2385373051" sldId="266"/>
            <ac:spMk id="3" creationId="{476A85E3-240C-BC49-33F1-10C2A164AF16}"/>
          </ac:spMkLst>
        </pc:spChg>
        <pc:graphicFrameChg chg="add mod ord modGraphic">
          <ac:chgData name="Aryan Arora" userId="b787227e2ec070f4" providerId="LiveId" clId="{A65BE4C5-78DA-47DB-89A3-56F4EE9C9206}" dt="2026-08-27T17:59:51.271" v="240"/>
          <ac:graphicFrameMkLst>
            <pc:docMk/>
            <pc:sldMk cId="2385373051" sldId="266"/>
            <ac:graphicFrameMk id="4" creationId="{AD236D29-85BD-3B49-1C9B-18AF6B39FF92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CEDEB-0EAE-2AD8-CFAF-CD858B53EE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2FF726-D5EA-3B67-EBA3-7103E5F6B9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025A49-6F27-597D-F86B-4817AE920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16A2C-E1B3-496A-F719-8BE5F06D4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84B72-0393-3CF6-AEBF-C33F25062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3385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77314-9713-911D-B131-47BF8788A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50A2F2-4491-54E0-BA75-A45AD08A9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788CAD-7D7B-238E-86E0-2C40E316E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A0B49-85A5-BFE8-5858-E94924CA8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D8CB63-605C-620F-BCB9-7277B0BF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8228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7CBAF-2BEF-4A8A-589E-D5002BEE7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19A790-D672-32CE-6B03-DA1CC50EB9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D63FC-096A-DE7E-8788-FF43E6A3E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F6420-9622-0659-43AA-CC1BE1171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CE51D2-AD73-ED10-3182-286A1CFBB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8206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0518F-6FEC-9203-5829-8DA35B6D9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C68E7-E0BE-BEE0-F81C-689E43E5FC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A4D781-8395-8758-061B-A092E5553B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C9FCE3-9F34-8490-0562-BBD456456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FA7712-3B82-FEFC-9AD4-12A13E87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6D4AD-1436-C8AE-EF34-391FDA17E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00114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9FC44-B395-C9E7-A451-B02BCD568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69FAC9-89B4-B982-3E85-4E6C1752F5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02554D-46BF-6085-50E9-F6E8B6305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642469-8127-F978-A7BA-19CE8DE285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6BA8E7-BCCD-3620-8A87-B96A48BA7B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2D2361-A7CB-DC24-659E-B9E6BB5AF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426E81-228A-AA10-7D00-D8CC1E596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D7F024-B1C3-A168-09A0-57B06D25C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0613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17CC1-8BF6-F428-D7F4-81328BBA0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6482A0-76FF-A405-A2DD-775AE2615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2BB294-7899-12B2-E431-AA4820676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F64A07-404E-8C7F-9D43-1BFCE179E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6736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0ED40-3DD0-2F0F-AE28-BCBF0BAA9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8DF096-0445-9C1D-9C48-AEB737146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6A25A4-04A2-F178-ED77-0C57B74C6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9251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9B528-A107-7F95-6CC1-53A1B19DE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AB4A8-8083-9103-9F31-AFBD4991DA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4456B9-8CF8-AC6D-DBE0-9D1889B29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0A8388-439D-B0D7-6BA0-1072A90AF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AE719E-CD3B-7DFC-65BE-392E2ED51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2EC801-39D5-2BF7-618F-6F2B00F0A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441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04E77-EBDB-881F-5477-77ADB3400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3CD531-C627-080E-9F66-E402E11484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23B551-FFA7-A43D-1CDA-CDDEE13DA2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8EDF8E-0705-8D60-F1BA-EDC078B3F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BE2E5A-C265-6326-E9AC-2B375880C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6EDCF9-7060-673A-6F33-6B9C0EB81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7512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AFD33-87CD-B145-490D-1D3199A0C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76BD60-CA32-610C-BD48-90EA559F6F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99949-BFDF-0471-024A-4F5DE3017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DB5717-ABCA-6D55-3A0B-5964CB3C4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F4AE7-FA12-03C0-5E8E-E6856DD51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9962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F9E2E0-7E93-BE85-A3AF-119D8F4D5A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65EB3C-F1CA-8FDC-B4F1-04D1A711B4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204F31-D3F8-2E4B-B770-FB00124D9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30DEE1-FE23-9472-61B5-D4DD7ED4A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94DC47-1A75-4FC2-42B9-E9A62B4D9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2014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109A18-4FB5-74D6-3D23-A145CAFC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A8F7BB-ECDF-0811-DE74-BD19695511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0D51CD-2320-F082-D428-86F1612666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594C3D-A39B-4310-B7FD-B6021999067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6DB0E-6351-E32D-7009-AACD48ABF9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985B2-71AA-B295-525B-46087D8B5A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2910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5EE6D-205B-0269-7345-B80B16FCED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Real-Time Voice AI Agent for Banking Support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0C490E-055C-1232-7BF3-72C927F404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1129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290E7-4F72-0E25-6210-7215851EA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8FDA5-DD38-F62F-E6EF-34577DDF6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Indian private banks handle over 10 million support calls monthly with 6-plus minute average handle times and high IVR frustration, leading to poor CSAT scores and customer churn. Tier-1 queries such as balance checks, card blocks, and EMI schedules represent 60% of call volume but consume the same agent time as complex issues.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5024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169DA-6F6C-52CA-596D-C7792DC2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Overview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CC0C6-7675-AE22-8160-0E0C3991D8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real-time voice AI agent using </a:t>
            </a:r>
            <a:r>
              <a:rPr lang="en-US" dirty="0" err="1"/>
              <a:t>Pipecat</a:t>
            </a:r>
            <a:r>
              <a:rPr lang="en-US" dirty="0"/>
              <a:t> for call orchestration, faster-whisper for streaming speech-to-text, Coqui TTS for text-to-speech, and a RAG backend grounded on bank policy documents. The agent handles Tier-1 queries and escalates complex queries to human agents with full conversation context and entity summary.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0409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F024D-CED2-D21A-F747-F39E713D0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ABBE1-CE10-E849-9B50-BF2B05798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11905-8014-F6A7-DFA7-867B7EC16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End-to-end voice pipeline: browser mic or Asterisk to faster-whisper STT to intent detection to RAG to Coqui TTS.</a:t>
            </a:r>
          </a:p>
          <a:p>
            <a:r>
              <a:rPr lang="en-US" dirty="0"/>
              <a:t>RAG knowledge base over 500-plus bank FAQ PDFs, policy documents, and product sheets.</a:t>
            </a:r>
          </a:p>
          <a:p>
            <a:r>
              <a:rPr lang="en-US" dirty="0"/>
              <a:t>Intent classifier for banking: balance, card block, EMI, NEFT, cheque, FD, and more.</a:t>
            </a:r>
          </a:p>
          <a:p>
            <a:r>
              <a:rPr lang="en-IN" dirty="0"/>
              <a:t>Seamless human escalation</a:t>
            </a:r>
          </a:p>
          <a:p>
            <a:r>
              <a:rPr lang="en-US" dirty="0"/>
              <a:t>Call analytics dashboard: intent distribution, resolution rate, and average handle time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2752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5E0AA-CA16-4B09-B7A9-E838EAE83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1E2F5-B829-778F-A471-44B1562BC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5B2290-71D1-3099-EEEE-E5F617219C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DTMF keypad fallback for low-network conditions</a:t>
            </a:r>
          </a:p>
          <a:p>
            <a:r>
              <a:rPr lang="en-US" dirty="0"/>
              <a:t>WebSocket-based deployment with Redis session management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0772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EC106-2771-8066-4DD9-49DA5E5A5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66223-E67F-DE1F-A9AA-FB1F9E4E7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Due to r</a:t>
            </a:r>
            <a:r>
              <a:rPr lang="en-IN" dirty="0" err="1"/>
              <a:t>eal</a:t>
            </a:r>
            <a:r>
              <a:rPr lang="en-IN" dirty="0"/>
              <a:t> banking conversations contain sensitive financial and personally identifiable information. Instead, we can create a synthetic banking customer-support dataset.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92092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AAA13-E3F3-0410-B78B-1B05EA91B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Stack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D236D29-85BD-3B49-1C9B-18AF6B39FF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22745460"/>
              </p:ext>
            </p:extLst>
          </p:nvPr>
        </p:nvGraphicFramePr>
        <p:xfrm>
          <a:off x="838200" y="1825625"/>
          <a:ext cx="105156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5067">
                  <a:extLst>
                    <a:ext uri="{9D8B030D-6E8A-4147-A177-3AD203B41FA5}">
                      <a16:colId xmlns:a16="http://schemas.microsoft.com/office/drawing/2014/main" val="1694806031"/>
                    </a:ext>
                  </a:extLst>
                </a:gridCol>
                <a:gridCol w="8500533">
                  <a:extLst>
                    <a:ext uri="{9D8B030D-6E8A-4147-A177-3AD203B41FA5}">
                      <a16:colId xmlns:a16="http://schemas.microsoft.com/office/drawing/2014/main" val="911155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Layer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Free / Open-Source Technology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60453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Call Orchestration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err="1"/>
                        <a:t>Pipecat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5941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Telephony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Browser WebSocket mic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17183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Speech-to-Text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Whisper large-v3 local inference,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868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Text-to-Speech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Coqui TTS or Kokoro TTS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7892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Intent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err="1"/>
                        <a:t>Ollama</a:t>
                      </a:r>
                      <a:r>
                        <a:rPr lang="en-IN" dirty="0"/>
                        <a:t> + Llama 3.1 8B with function calling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935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RAG 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LangChain</a:t>
                      </a:r>
                      <a:r>
                        <a:rPr lang="es-ES" dirty="0"/>
                        <a:t> + </a:t>
                      </a:r>
                      <a:r>
                        <a:rPr lang="es-ES" dirty="0" err="1"/>
                        <a:t>ChromaDB</a:t>
                      </a:r>
                      <a:r>
                        <a:rPr lang="es-ES" dirty="0"/>
                        <a:t> + Ollama Llama 3.1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8261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err="1"/>
                        <a:t>FastAPI</a:t>
                      </a:r>
                      <a:r>
                        <a:rPr lang="en-IN" dirty="0"/>
                        <a:t>+ </a:t>
                      </a:r>
                      <a:r>
                        <a:rPr lang="en-IN" dirty="0" err="1"/>
                        <a:t>WebSockets</a:t>
                      </a:r>
                      <a:r>
                        <a:rPr lang="en-IN"/>
                        <a:t> + Redis via Docker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4895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MinIO</a:t>
                      </a:r>
                      <a:r>
                        <a:rPr lang="en-US" dirty="0"/>
                        <a:t> for call recordings + PostgreSQL via Docker for transcripts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9509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Docker Compose local + Nginx WebSocket proxy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494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5373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26718-ADAE-5DD0-D3C3-971913833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066B6-F615-2EF9-AA0A-31F9A8054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Citations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EF839-4C3B-FAD8-41E0-9146E443C0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dirty="0" err="1"/>
              <a:t>Dhagat</a:t>
            </a:r>
            <a:r>
              <a:rPr lang="en-IN" dirty="0"/>
              <a:t>, N., Dabhi, V. K., Prajapati, H. B., &amp; Barad, Z. J. (2026). Telephony Voice Agent for Banking Services. </a:t>
            </a:r>
            <a:r>
              <a:rPr lang="en-IN" i="1" dirty="0" err="1"/>
              <a:t>arXiv</a:t>
            </a:r>
            <a:r>
              <a:rPr lang="en-IN" i="1" dirty="0"/>
              <a:t> preprint arXiv:2606.28779</a:t>
            </a:r>
            <a:r>
              <a:rPr lang="en-IN" dirty="0"/>
              <a:t>.</a:t>
            </a:r>
          </a:p>
          <a:p>
            <a:r>
              <a:rPr lang="en-IN" dirty="0"/>
              <a:t>Oruganti, S. C. (2020). Virtual bank assistance: An AI based voice bot for better banking. </a:t>
            </a:r>
            <a:r>
              <a:rPr lang="en-IN" i="1" dirty="0"/>
              <a:t>Int J Res</a:t>
            </a:r>
            <a:r>
              <a:rPr lang="en-IN" dirty="0"/>
              <a:t>, </a:t>
            </a:r>
            <a:r>
              <a:rPr lang="en-IN" i="1" dirty="0"/>
              <a:t>9</a:t>
            </a:r>
            <a:r>
              <a:rPr lang="en-IN" dirty="0"/>
              <a:t>(1), 177-83.</a:t>
            </a:r>
          </a:p>
          <a:p>
            <a:r>
              <a:rPr lang="en-IN" dirty="0" err="1"/>
              <a:t>Dhagat</a:t>
            </a:r>
            <a:r>
              <a:rPr lang="en-IN" dirty="0"/>
              <a:t>, N., Dabhi, V. K., Prajapati, H. B., &amp; Barad, Z. J. (2026). Telephony Voice Agent for Banking Services. </a:t>
            </a:r>
            <a:r>
              <a:rPr lang="en-IN" i="1" dirty="0" err="1"/>
              <a:t>arXiv</a:t>
            </a:r>
            <a:r>
              <a:rPr lang="en-IN" i="1" dirty="0"/>
              <a:t> preprint arXiv:2606.28779</a:t>
            </a:r>
            <a:r>
              <a:rPr lang="en-IN" dirty="0"/>
              <a:t>.</a:t>
            </a:r>
          </a:p>
          <a:p>
            <a:r>
              <a:rPr lang="en-IN" dirty="0"/>
              <a:t>Inala, R., &amp; Somu, B. (2024). Agentic ai in retail banking: Redefining customer service and financial decision-making. </a:t>
            </a:r>
            <a:r>
              <a:rPr lang="en-IN" i="1" dirty="0"/>
              <a:t>Journal of Artificial Intelligence and Big Data Disciplines</a:t>
            </a:r>
            <a:r>
              <a:rPr lang="en-IN" dirty="0"/>
              <a:t>, </a:t>
            </a:r>
            <a:r>
              <a:rPr lang="en-IN" i="1" dirty="0"/>
              <a:t>1</a:t>
            </a:r>
            <a:r>
              <a:rPr lang="en-IN" dirty="0"/>
              <a:t>(1), 1-19.</a:t>
            </a:r>
          </a:p>
        </p:txBody>
      </p:sp>
    </p:spTree>
    <p:extLst>
      <p:ext uri="{BB962C8B-B14F-4D97-AF65-F5344CB8AC3E}">
        <p14:creationId xmlns:p14="http://schemas.microsoft.com/office/powerpoint/2010/main" val="17719256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33310-BFD8-56C2-B5E3-B50C25093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69C44-C673-B546-047A-419DB7226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C67ABA-FE02-2AAE-62FB-B8598B670E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Sunkara, V. L. B., &amp; Dhanasekaran, S. Transforming Mobile Banking with Conversational AI and Voice Recognition.</a:t>
            </a:r>
          </a:p>
          <a:p>
            <a:r>
              <a:rPr lang="en-IN" dirty="0"/>
              <a:t>Inala, R., &amp; Somu, B. (2025). Building trustworthy agentic AI systems for personalized banking experiences. </a:t>
            </a:r>
            <a:r>
              <a:rPr lang="en-IN" i="1" dirty="0"/>
              <a:t>Metallurgical and Materials Engineering</a:t>
            </a:r>
            <a:r>
              <a:rPr lang="en-IN" dirty="0"/>
              <a:t>, </a:t>
            </a:r>
            <a:r>
              <a:rPr lang="en-IN" i="1" dirty="0"/>
              <a:t>31</a:t>
            </a:r>
            <a:r>
              <a:rPr lang="en-IN" dirty="0"/>
              <a:t>(5), 1336-1360.</a:t>
            </a:r>
          </a:p>
          <a:p>
            <a:r>
              <a:rPr lang="en-IN" dirty="0"/>
              <a:t>Singh, P. (2025). Leveraging AI for Real-Time Customer Support in Telecommunications.</a:t>
            </a:r>
          </a:p>
          <a:p>
            <a:r>
              <a:rPr lang="en-IN" dirty="0"/>
              <a:t>Chugh, S., &amp; Pondal, P. (2025). Human-Computer Interaction with Voice-Driven AI Chatbots. </a:t>
            </a:r>
            <a:r>
              <a:rPr lang="en-IN" i="1" dirty="0"/>
              <a:t>Int. J. Sci. Res. Eng. Manag.</a:t>
            </a:r>
            <a:r>
              <a:rPr lang="en-IN" dirty="0"/>
              <a:t>, </a:t>
            </a:r>
            <a:r>
              <a:rPr lang="en-IN" i="1" dirty="0"/>
              <a:t>9</a:t>
            </a:r>
            <a:r>
              <a:rPr lang="en-IN" dirty="0"/>
              <a:t>(05), 1-9.</a:t>
            </a:r>
          </a:p>
        </p:txBody>
      </p:sp>
    </p:spTree>
    <p:extLst>
      <p:ext uri="{BB962C8B-B14F-4D97-AF65-F5344CB8AC3E}">
        <p14:creationId xmlns:p14="http://schemas.microsoft.com/office/powerpoint/2010/main" val="35818825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F664E-6C7F-ED31-C5F2-AC6154D41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74CBD-3BCE-AB1C-B7A0-55AF34786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BED03-0DBC-E411-C1AF-CE18EC852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Anand, L. G. (2025). From Voice to Value: The Expanding Role of AI in Communication and Financial Services.</a:t>
            </a:r>
          </a:p>
          <a:p>
            <a:r>
              <a:rPr lang="en-IN" dirty="0" err="1"/>
              <a:t>Chitraju</a:t>
            </a:r>
            <a:r>
              <a:rPr lang="en-IN" dirty="0"/>
              <a:t>, S. (2025). Smart Systems, Smarter Decisions: AI Applications in Voice Recognition, User Support, and Financial Services. </a:t>
            </a:r>
            <a:r>
              <a:rPr lang="en-IN" i="1" dirty="0"/>
              <a:t>Smarter Decisions: AI Applications in Voice Recognition, User Support, and Financial Services (August 18, 2025)</a:t>
            </a:r>
            <a:r>
              <a:rPr lang="en-IN" dirty="0"/>
              <a:t>.</a:t>
            </a:r>
          </a:p>
          <a:p>
            <a:r>
              <a:rPr lang="en-IN" dirty="0" err="1"/>
              <a:t>Henkens</a:t>
            </a:r>
            <a:r>
              <a:rPr lang="en-IN" dirty="0"/>
              <a:t>, B., Schultz, C. D., De Keyser, A., &amp; Mahr, D. (2026). The sound of progress: AI voice agents in service. </a:t>
            </a:r>
            <a:r>
              <a:rPr lang="en-IN" i="1" dirty="0"/>
              <a:t>Journal of Service Management</a:t>
            </a:r>
            <a:r>
              <a:rPr lang="en-IN" dirty="0"/>
              <a:t>, </a:t>
            </a:r>
            <a:r>
              <a:rPr lang="en-IN" i="1" dirty="0"/>
              <a:t>37</a:t>
            </a:r>
            <a:r>
              <a:rPr lang="en-IN" dirty="0"/>
              <a:t>(1), 1-32.</a:t>
            </a:r>
          </a:p>
          <a:p>
            <a:r>
              <a:rPr lang="en-IN" dirty="0"/>
              <a:t>Parthiban, E. S., &amp; Adil, M. (2023). Trends in the AI-based banking conversational agents literature: a bibliometric review. </a:t>
            </a:r>
            <a:r>
              <a:rPr lang="en-IN" i="1" dirty="0"/>
              <a:t>Asia pacific journal of information systems</a:t>
            </a:r>
            <a:r>
              <a:rPr lang="en-IN" dirty="0"/>
              <a:t>, </a:t>
            </a:r>
            <a:r>
              <a:rPr lang="en-IN" i="1" dirty="0"/>
              <a:t>33</a:t>
            </a:r>
            <a:r>
              <a:rPr lang="en-IN" dirty="0"/>
              <a:t>(3), 702-736.</a:t>
            </a:r>
          </a:p>
        </p:txBody>
      </p:sp>
    </p:spTree>
    <p:extLst>
      <p:ext uri="{BB962C8B-B14F-4D97-AF65-F5344CB8AC3E}">
        <p14:creationId xmlns:p14="http://schemas.microsoft.com/office/powerpoint/2010/main" val="52899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AC10E-BAA4-0871-F56B-4D6EB74AB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92DC-C61C-3B18-D742-1900F41B2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2EE86E-AFC8-8DF6-B6AB-4A95D13DA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Mastrandrea, M. (2024). </a:t>
            </a:r>
            <a:r>
              <a:rPr lang="en-IN" i="1" dirty="0"/>
              <a:t>Developing an AI-Powered Voice Assistant for an iOS Payment App</a:t>
            </a:r>
            <a:r>
              <a:rPr lang="en-IN" dirty="0"/>
              <a:t> (Doctoral dissertation, </a:t>
            </a:r>
            <a:r>
              <a:rPr lang="en-IN" dirty="0" err="1"/>
              <a:t>Politecnico</a:t>
            </a:r>
            <a:r>
              <a:rPr lang="en-IN" dirty="0"/>
              <a:t> di Torino).</a:t>
            </a:r>
          </a:p>
          <a:p>
            <a:r>
              <a:rPr lang="en-IN" dirty="0"/>
              <a:t>Doherty, D., &amp; Curran, K. (2019, December). Chatbots for online banking services. In </a:t>
            </a:r>
            <a:r>
              <a:rPr lang="en-IN" i="1" dirty="0"/>
              <a:t>Web Intelligence</a:t>
            </a:r>
            <a:r>
              <a:rPr lang="en-IN" dirty="0"/>
              <a:t> (Vol. 17, No. 4, pp. 327-342). Sage UK: London, England: SAGE Publications.</a:t>
            </a:r>
          </a:p>
          <a:p>
            <a:r>
              <a:rPr lang="en-IN" dirty="0"/>
              <a:t>Paul, V. (2025). Voice AI Agents: The Technical Backbone of Modern Speech Interfaces. </a:t>
            </a:r>
            <a:r>
              <a:rPr lang="en-IN" i="1" dirty="0"/>
              <a:t>Journal Of Multidisciplinary</a:t>
            </a:r>
            <a:r>
              <a:rPr lang="en-IN" dirty="0"/>
              <a:t>, </a:t>
            </a:r>
            <a:r>
              <a:rPr lang="en-IN" i="1" dirty="0"/>
              <a:t>5</a:t>
            </a:r>
            <a:r>
              <a:rPr lang="en-IN" dirty="0"/>
              <a:t>(7), 610-617.</a:t>
            </a:r>
          </a:p>
        </p:txBody>
      </p:sp>
    </p:spTree>
    <p:extLst>
      <p:ext uri="{BB962C8B-B14F-4D97-AF65-F5344CB8AC3E}">
        <p14:creationId xmlns:p14="http://schemas.microsoft.com/office/powerpoint/2010/main" val="3833798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810</Words>
  <Application>Microsoft Office PowerPoint</Application>
  <PresentationFormat>Widescreen</PresentationFormat>
  <Paragraphs>53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Real-Time Voice AI Agent for Banking Support</vt:lpstr>
      <vt:lpstr>Problem Statement</vt:lpstr>
      <vt:lpstr>Solution Overview</vt:lpstr>
      <vt:lpstr>Objectives</vt:lpstr>
      <vt:lpstr>Objectives</vt:lpstr>
      <vt:lpstr>Dataset</vt:lpstr>
      <vt:lpstr>Technical Stack</vt:lpstr>
      <vt:lpstr>Citations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Aryan Arora</dc:creator>
  <cp:lastModifiedBy>Aryan Arora</cp:lastModifiedBy>
  <cp:revision>1</cp:revision>
  <dcterms:created xsi:type="dcterms:W3CDTF">2026-08-23T17:02:43Z</dcterms:created>
  <dcterms:modified xsi:type="dcterms:W3CDTF">2026-08-27T17:59:55Z</dcterms:modified>
</cp:coreProperties>
</file>