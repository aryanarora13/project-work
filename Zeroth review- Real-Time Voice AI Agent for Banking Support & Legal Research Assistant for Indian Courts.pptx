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1" r:id="rId3"/>
    <p:sldId id="257" r:id="rId4"/>
    <p:sldId id="263" r:id="rId5"/>
    <p:sldId id="265" r:id="rId6"/>
    <p:sldId id="266" r:id="rId7"/>
    <p:sldId id="267" r:id="rId8"/>
    <p:sldId id="262" r:id="rId9"/>
    <p:sldId id="258" r:id="rId10"/>
    <p:sldId id="259"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62257B-BBBF-49CD-A5DD-C3850C73CE74}" v="22" dt="2026-08-27T13:45:32.717"/>
    <p1510:client id="{FE4B861C-592A-455A-B092-D6E87EE04346}" v="1" dt="2026-08-27T17:59:51.3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Arora" userId="b787227e2ec070f4" providerId="LiveId" clId="{A65BE4C5-78DA-47DB-89A3-56F4EE9C9206}"/>
    <pc:docChg chg="undo custSel addSld modSld">
      <pc:chgData name="Aryan Arora" userId="b787227e2ec070f4" providerId="LiveId" clId="{A65BE4C5-78DA-47DB-89A3-56F4EE9C9206}" dt="2026-08-27T17:59:51.271" v="240"/>
      <pc:docMkLst>
        <pc:docMk/>
      </pc:docMkLst>
      <pc:sldChg chg="modSp new">
        <pc:chgData name="Aryan Arora" userId="b787227e2ec070f4" providerId="LiveId" clId="{A65BE4C5-78DA-47DB-89A3-56F4EE9C9206}" dt="2026-08-23T18:20:21.570" v="165"/>
        <pc:sldMkLst>
          <pc:docMk/>
          <pc:sldMk cId="2511129951" sldId="256"/>
        </pc:sldMkLst>
        <pc:spChg chg="mod">
          <ac:chgData name="Aryan Arora" userId="b787227e2ec070f4" providerId="LiveId" clId="{A65BE4C5-78DA-47DB-89A3-56F4EE9C9206}" dt="2026-08-23T18:20:21.570" v="165"/>
          <ac:spMkLst>
            <pc:docMk/>
            <pc:sldMk cId="2511129951" sldId="256"/>
            <ac:spMk id="2" creationId="{1A95EE6D-205B-0269-7345-B80B16FCED1E}"/>
          </ac:spMkLst>
        </pc:spChg>
      </pc:sldChg>
      <pc:sldChg chg="modSp new mod">
        <pc:chgData name="Aryan Arora" userId="b787227e2ec070f4" providerId="LiveId" clId="{A65BE4C5-78DA-47DB-89A3-56F4EE9C9206}" dt="2026-08-23T18:17:27.782" v="120" actId="20577"/>
        <pc:sldMkLst>
          <pc:docMk/>
          <pc:sldMk cId="2470409146" sldId="257"/>
        </pc:sldMkLst>
        <pc:spChg chg="mod">
          <ac:chgData name="Aryan Arora" userId="b787227e2ec070f4" providerId="LiveId" clId="{A65BE4C5-78DA-47DB-89A3-56F4EE9C9206}" dt="2026-08-23T18:17:13.118" v="109" actId="20577"/>
          <ac:spMkLst>
            <pc:docMk/>
            <pc:sldMk cId="2470409146" sldId="257"/>
            <ac:spMk id="2" creationId="{962169DA-6F6C-52CA-596D-C7792DC2075A}"/>
          </ac:spMkLst>
        </pc:spChg>
        <pc:spChg chg="mod">
          <ac:chgData name="Aryan Arora" userId="b787227e2ec070f4" providerId="LiveId" clId="{A65BE4C5-78DA-47DB-89A3-56F4EE9C9206}" dt="2026-08-23T18:17:27.782" v="120" actId="20577"/>
          <ac:spMkLst>
            <pc:docMk/>
            <pc:sldMk cId="2470409146" sldId="257"/>
            <ac:spMk id="3" creationId="{DF8CC0C6-7675-AE22-8160-0E0C3991D8E6}"/>
          </ac:spMkLst>
        </pc:spChg>
      </pc:sldChg>
      <pc:sldChg chg="modSp add mod">
        <pc:chgData name="Aryan Arora" userId="b787227e2ec070f4" providerId="LiveId" clId="{A65BE4C5-78DA-47DB-89A3-56F4EE9C9206}" dt="2026-08-23T17:31:21.320" v="20"/>
        <pc:sldMkLst>
          <pc:docMk/>
          <pc:sldMk cId="3581882527" sldId="258"/>
        </pc:sldMkLst>
        <pc:spChg chg="mod">
          <ac:chgData name="Aryan Arora" userId="b787227e2ec070f4" providerId="LiveId" clId="{A65BE4C5-78DA-47DB-89A3-56F4EE9C9206}" dt="2026-08-23T17:31:21.320" v="20"/>
          <ac:spMkLst>
            <pc:docMk/>
            <pc:sldMk cId="3581882527" sldId="258"/>
            <ac:spMk id="3" creationId="{91C67ABA-FE02-2AAE-62FB-B8598B670EAE}"/>
          </ac:spMkLst>
        </pc:spChg>
      </pc:sldChg>
      <pc:sldChg chg="modSp add mod">
        <pc:chgData name="Aryan Arora" userId="b787227e2ec070f4" providerId="LiveId" clId="{A65BE4C5-78DA-47DB-89A3-56F4EE9C9206}" dt="2026-08-23T17:53:08.874" v="29" actId="27636"/>
        <pc:sldMkLst>
          <pc:docMk/>
          <pc:sldMk cId="52899601" sldId="259"/>
        </pc:sldMkLst>
        <pc:spChg chg="mod">
          <ac:chgData name="Aryan Arora" userId="b787227e2ec070f4" providerId="LiveId" clId="{A65BE4C5-78DA-47DB-89A3-56F4EE9C9206}" dt="2026-08-23T17:53:08.874" v="29" actId="27636"/>
          <ac:spMkLst>
            <pc:docMk/>
            <pc:sldMk cId="52899601" sldId="259"/>
            <ac:spMk id="3" creationId="{85BBED03-0DBC-E411-C1AF-CE18EC85272F}"/>
          </ac:spMkLst>
        </pc:spChg>
      </pc:sldChg>
      <pc:sldChg chg="modSp add mod">
        <pc:chgData name="Aryan Arora" userId="b787227e2ec070f4" providerId="LiveId" clId="{A65BE4C5-78DA-47DB-89A3-56F4EE9C9206}" dt="2026-08-23T18:08:05.602" v="37"/>
        <pc:sldMkLst>
          <pc:docMk/>
          <pc:sldMk cId="3833798129" sldId="260"/>
        </pc:sldMkLst>
        <pc:spChg chg="mod">
          <ac:chgData name="Aryan Arora" userId="b787227e2ec070f4" providerId="LiveId" clId="{A65BE4C5-78DA-47DB-89A3-56F4EE9C9206}" dt="2026-08-23T18:08:05.602" v="37"/>
          <ac:spMkLst>
            <pc:docMk/>
            <pc:sldMk cId="3833798129" sldId="260"/>
            <ac:spMk id="3" creationId="{EF2EE86E-AFC8-8DF6-B6AB-4A95D13DACF1}"/>
          </ac:spMkLst>
        </pc:spChg>
      </pc:sldChg>
      <pc:sldChg chg="modSp new mod">
        <pc:chgData name="Aryan Arora" userId="b787227e2ec070f4" providerId="LiveId" clId="{A65BE4C5-78DA-47DB-89A3-56F4EE9C9206}" dt="2026-08-23T18:11:40.547" v="74" actId="20577"/>
        <pc:sldMkLst>
          <pc:docMk/>
          <pc:sldMk cId="1465024936" sldId="261"/>
        </pc:sldMkLst>
        <pc:spChg chg="mod">
          <ac:chgData name="Aryan Arora" userId="b787227e2ec070f4" providerId="LiveId" clId="{A65BE4C5-78DA-47DB-89A3-56F4EE9C9206}" dt="2026-08-23T18:11:01.392" v="57" actId="20577"/>
          <ac:spMkLst>
            <pc:docMk/>
            <pc:sldMk cId="1465024936" sldId="261"/>
            <ac:spMk id="2" creationId="{197290E7-4F72-0E25-6210-7215851EABB0}"/>
          </ac:spMkLst>
        </pc:spChg>
        <pc:spChg chg="mod">
          <ac:chgData name="Aryan Arora" userId="b787227e2ec070f4" providerId="LiveId" clId="{A65BE4C5-78DA-47DB-89A3-56F4EE9C9206}" dt="2026-08-23T18:11:40.547" v="74" actId="20577"/>
          <ac:spMkLst>
            <pc:docMk/>
            <pc:sldMk cId="1465024936" sldId="261"/>
            <ac:spMk id="3" creationId="{3C88FDA5-DD38-F62F-E6EF-34577DDF65FE}"/>
          </ac:spMkLst>
        </pc:spChg>
      </pc:sldChg>
      <pc:sldChg chg="add">
        <pc:chgData name="Aryan Arora" userId="b787227e2ec070f4" providerId="LiveId" clId="{A65BE4C5-78DA-47DB-89A3-56F4EE9C9206}" dt="2026-08-23T18:15:29.006" v="84" actId="2890"/>
        <pc:sldMkLst>
          <pc:docMk/>
          <pc:sldMk cId="1771925662" sldId="262"/>
        </pc:sldMkLst>
      </pc:sldChg>
      <pc:sldChg chg="modSp add mod">
        <pc:chgData name="Aryan Arora" userId="b787227e2ec070f4" providerId="LiveId" clId="{A65BE4C5-78DA-47DB-89A3-56F4EE9C9206}" dt="2026-08-23T18:19:32.856" v="160"/>
        <pc:sldMkLst>
          <pc:docMk/>
          <pc:sldMk cId="3162752367" sldId="263"/>
        </pc:sldMkLst>
        <pc:spChg chg="mod">
          <ac:chgData name="Aryan Arora" userId="b787227e2ec070f4" providerId="LiveId" clId="{A65BE4C5-78DA-47DB-89A3-56F4EE9C9206}" dt="2026-08-23T18:18:42.789" v="149" actId="20577"/>
          <ac:spMkLst>
            <pc:docMk/>
            <pc:sldMk cId="3162752367" sldId="263"/>
            <ac:spMk id="2" creationId="{196ABBE1-CE10-E849-9B50-BF2B057982FB}"/>
          </ac:spMkLst>
        </pc:spChg>
        <pc:spChg chg="mod">
          <ac:chgData name="Aryan Arora" userId="b787227e2ec070f4" providerId="LiveId" clId="{A65BE4C5-78DA-47DB-89A3-56F4EE9C9206}" dt="2026-08-23T18:19:32.856" v="160"/>
          <ac:spMkLst>
            <pc:docMk/>
            <pc:sldMk cId="3162752367" sldId="263"/>
            <ac:spMk id="3" creationId="{33F11905-8014-F6A7-DFA7-867B7EC16577}"/>
          </ac:spMkLst>
        </pc:spChg>
      </pc:sldChg>
      <pc:sldChg chg="modSp add mod">
        <pc:chgData name="Aryan Arora" userId="b787227e2ec070f4" providerId="LiveId" clId="{A65BE4C5-78DA-47DB-89A3-56F4EE9C9206}" dt="2026-08-23T18:19:59.854" v="164"/>
        <pc:sldMkLst>
          <pc:docMk/>
          <pc:sldMk cId="2690772527" sldId="264"/>
        </pc:sldMkLst>
        <pc:spChg chg="mod">
          <ac:chgData name="Aryan Arora" userId="b787227e2ec070f4" providerId="LiveId" clId="{A65BE4C5-78DA-47DB-89A3-56F4EE9C9206}" dt="2026-08-23T18:19:59.854" v="164"/>
          <ac:spMkLst>
            <pc:docMk/>
            <pc:sldMk cId="2690772527" sldId="264"/>
            <ac:spMk id="3" creationId="{795B2290-71D1-3099-EEEE-E5F617219C7A}"/>
          </ac:spMkLst>
        </pc:spChg>
      </pc:sldChg>
      <pc:sldChg chg="modSp new mod">
        <pc:chgData name="Aryan Arora" userId="b787227e2ec070f4" providerId="LiveId" clId="{A65BE4C5-78DA-47DB-89A3-56F4EE9C9206}" dt="2026-08-27T12:46:56.266" v="191" actId="113"/>
        <pc:sldMkLst>
          <pc:docMk/>
          <pc:sldMk cId="4292092617" sldId="265"/>
        </pc:sldMkLst>
        <pc:spChg chg="mod">
          <ac:chgData name="Aryan Arora" userId="b787227e2ec070f4" providerId="LiveId" clId="{A65BE4C5-78DA-47DB-89A3-56F4EE9C9206}" dt="2026-08-27T12:46:08.690" v="173" actId="20577"/>
          <ac:spMkLst>
            <pc:docMk/>
            <pc:sldMk cId="4292092617" sldId="265"/>
            <ac:spMk id="2" creationId="{008EC106-2771-8066-4DD9-49DA5E5A541D}"/>
          </ac:spMkLst>
        </pc:spChg>
        <pc:spChg chg="mod">
          <ac:chgData name="Aryan Arora" userId="b787227e2ec070f4" providerId="LiveId" clId="{A65BE4C5-78DA-47DB-89A3-56F4EE9C9206}" dt="2026-08-27T12:46:56.266" v="191" actId="113"/>
          <ac:spMkLst>
            <pc:docMk/>
            <pc:sldMk cId="4292092617" sldId="265"/>
            <ac:spMk id="3" creationId="{90066223-E67F-DE1F-A9AA-FB1F9E4E7066}"/>
          </ac:spMkLst>
        </pc:spChg>
      </pc:sldChg>
      <pc:sldChg chg="addSp delSp modSp new mod">
        <pc:chgData name="Aryan Arora" userId="b787227e2ec070f4" providerId="LiveId" clId="{A65BE4C5-78DA-47DB-89A3-56F4EE9C9206}" dt="2026-08-27T17:59:51.271" v="240"/>
        <pc:sldMkLst>
          <pc:docMk/>
          <pc:sldMk cId="2385373051" sldId="266"/>
        </pc:sldMkLst>
        <pc:spChg chg="mod">
          <ac:chgData name="Aryan Arora" userId="b787227e2ec070f4" providerId="LiveId" clId="{A65BE4C5-78DA-47DB-89A3-56F4EE9C9206}" dt="2026-08-27T13:41:26.690" v="207" actId="20577"/>
          <ac:spMkLst>
            <pc:docMk/>
            <pc:sldMk cId="2385373051" sldId="266"/>
            <ac:spMk id="2" creationId="{89CAAA13-E3F3-0410-B78B-1B05EA91B141}"/>
          </ac:spMkLst>
        </pc:spChg>
        <pc:spChg chg="del">
          <ac:chgData name="Aryan Arora" userId="b787227e2ec070f4" providerId="LiveId" clId="{A65BE4C5-78DA-47DB-89A3-56F4EE9C9206}" dt="2026-08-27T13:41:56.741" v="208" actId="3680"/>
          <ac:spMkLst>
            <pc:docMk/>
            <pc:sldMk cId="2385373051" sldId="266"/>
            <ac:spMk id="3" creationId="{476A85E3-240C-BC49-33F1-10C2A164AF16}"/>
          </ac:spMkLst>
        </pc:spChg>
        <pc:graphicFrameChg chg="add mod ord modGraphic">
          <ac:chgData name="Aryan Arora" userId="b787227e2ec070f4" providerId="LiveId" clId="{A65BE4C5-78DA-47DB-89A3-56F4EE9C9206}" dt="2026-08-27T17:59:51.271" v="240"/>
          <ac:graphicFrameMkLst>
            <pc:docMk/>
            <pc:sldMk cId="2385373051" sldId="266"/>
            <ac:graphicFrameMk id="4" creationId="{AD236D29-85BD-3B49-1C9B-18AF6B39FF92}"/>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E594C3D-A39B-4310-B7FD-B60219990675}"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2387062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E594C3D-A39B-4310-B7FD-B60219990675}"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45066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94C3D-A39B-4310-B7FD-B60219990675}"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3910876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3E594C3D-A39B-4310-B7FD-B60219990675}" type="datetimeFigureOut">
              <a:rPr lang="en-IN" smtClean="0"/>
              <a:t>28-08-2026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72917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p:cNvSpPr>
            <a:spLocks noGrp="1"/>
          </p:cNvSpPr>
          <p:nvPr>
            <p:ph type="dt" sz="half" idx="10"/>
          </p:nvPr>
        </p:nvSpPr>
        <p:spPr/>
        <p:txBody>
          <a:bodyPr/>
          <a:lstStyle/>
          <a:p>
            <a:fld id="{3E594C3D-A39B-4310-B7FD-B60219990675}" type="datetimeFigureOut">
              <a:rPr lang="en-IN" smtClean="0"/>
              <a:t>28-08-2026</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216052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2" name="Date Placeholder 1"/>
          <p:cNvSpPr>
            <a:spLocks noGrp="1"/>
          </p:cNvSpPr>
          <p:nvPr>
            <p:ph type="dt" sz="half" idx="10"/>
          </p:nvPr>
        </p:nvSpPr>
        <p:spPr/>
        <p:txBody>
          <a:bodyPr/>
          <a:lstStyle/>
          <a:p>
            <a:fld id="{3E594C3D-A39B-4310-B7FD-B60219990675}" type="datetimeFigureOut">
              <a:rPr lang="en-IN" smtClean="0"/>
              <a:t>28-08-2026</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1408158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E594C3D-A39B-4310-B7FD-B60219990675}" type="datetimeFigureOut">
              <a:rPr lang="en-IN" smtClean="0"/>
              <a:t>28-08-2026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1764682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3E594C3D-A39B-4310-B7FD-B60219990675}" type="datetimeFigureOut">
              <a:rPr lang="en-IN" smtClean="0"/>
              <a:t>28-08-2026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288415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3E594C3D-A39B-4310-B7FD-B60219990675}" type="datetimeFigureOut">
              <a:rPr lang="en-IN" smtClean="0"/>
              <a:t>28-08-2026</a:t>
            </a:fld>
            <a:endParaRPr lang="en-IN"/>
          </a:p>
        </p:txBody>
      </p:sp>
      <p:sp>
        <p:nvSpPr>
          <p:cNvPr id="9" name="Footer Placeholder 8"/>
          <p:cNvSpPr>
            <a:spLocks noGrp="1"/>
          </p:cNvSpPr>
          <p:nvPr>
            <p:ph type="ftr" sz="quarter" idx="11"/>
          </p:nvPr>
        </p:nvSpPr>
        <p:spPr>
          <a:xfrm>
            <a:off x="3499101" y="6356350"/>
            <a:ext cx="5911517" cy="365125"/>
          </a:xfrm>
        </p:spPr>
        <p:txBody>
          <a:bodyPr/>
          <a:lstStyle/>
          <a:p>
            <a:endParaRPr lang="en-IN"/>
          </a:p>
        </p:txBody>
      </p:sp>
      <p:sp>
        <p:nvSpPr>
          <p:cNvPr id="10" name="Slide Number Placeholder 9"/>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3015912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E594C3D-A39B-4310-B7FD-B60219990675}" type="datetimeFigureOut">
              <a:rPr lang="en-IN" smtClean="0"/>
              <a:t>28-08-2026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2257801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E594C3D-A39B-4310-B7FD-B60219990675}" type="datetimeFigureOut">
              <a:rPr lang="en-IN" smtClean="0"/>
              <a:t>28-08-2026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6D172C-3A65-4680-AAFB-A052EB12D54D}" type="slidenum">
              <a:rPr lang="en-IN" smtClean="0"/>
              <a:t>‹#›</a:t>
            </a:fld>
            <a:endParaRPr lang="en-IN"/>
          </a:p>
        </p:txBody>
      </p:sp>
    </p:spTree>
    <p:extLst>
      <p:ext uri="{BB962C8B-B14F-4D97-AF65-F5344CB8AC3E}">
        <p14:creationId xmlns:p14="http://schemas.microsoft.com/office/powerpoint/2010/main" val="1988276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3E594C3D-A39B-4310-B7FD-B60219990675}" type="datetimeFigureOut">
              <a:rPr lang="en-IN" smtClean="0"/>
              <a:t>28-08-2026</a:t>
            </a:fld>
            <a:endParaRPr lang="en-IN"/>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AC6D172C-3A65-4680-AAFB-A052EB12D54D}" type="slidenum">
              <a:rPr lang="en-IN" smtClean="0"/>
              <a:t>‹#›</a:t>
            </a:fld>
            <a:endParaRPr lang="en-IN"/>
          </a:p>
        </p:txBody>
      </p:sp>
    </p:spTree>
    <p:extLst>
      <p:ext uri="{BB962C8B-B14F-4D97-AF65-F5344CB8AC3E}">
        <p14:creationId xmlns:p14="http://schemas.microsoft.com/office/powerpoint/2010/main" val="320272535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4B5CC49-6FAE-42FA-99B6-A3FDA8C68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A95EE6D-205B-0269-7345-B80B16FCED1E}"/>
              </a:ext>
            </a:extLst>
          </p:cNvPr>
          <p:cNvSpPr>
            <a:spLocks noGrp="1"/>
          </p:cNvSpPr>
          <p:nvPr>
            <p:ph type="ctrTitle"/>
          </p:nvPr>
        </p:nvSpPr>
        <p:spPr>
          <a:xfrm>
            <a:off x="1703295" y="1083732"/>
            <a:ext cx="5509628" cy="4690534"/>
          </a:xfrm>
        </p:spPr>
        <p:txBody>
          <a:bodyPr anchor="ctr">
            <a:normAutofit/>
          </a:bodyPr>
          <a:lstStyle/>
          <a:p>
            <a:pPr algn="r"/>
            <a:r>
              <a:rPr lang="en-US" sz="5600">
                <a:solidFill>
                  <a:schemeClr val="tx1">
                    <a:lumMod val="75000"/>
                    <a:lumOff val="25000"/>
                  </a:schemeClr>
                </a:solidFill>
              </a:rPr>
              <a:t>Real-Time Voice AI Agent for Banking Support &amp; </a:t>
            </a:r>
            <a:r>
              <a:rPr lang="en-GB" sz="5600">
                <a:solidFill>
                  <a:schemeClr val="tx1">
                    <a:lumMod val="75000"/>
                    <a:lumOff val="25000"/>
                  </a:schemeClr>
                </a:solidFill>
              </a:rPr>
              <a:t>Legal Research Assistant for Indian Courts</a:t>
            </a:r>
            <a:endParaRPr lang="en-IN" sz="5600">
              <a:solidFill>
                <a:schemeClr val="tx1">
                  <a:lumMod val="75000"/>
                  <a:lumOff val="25000"/>
                </a:schemeClr>
              </a:solidFill>
            </a:endParaRPr>
          </a:p>
        </p:txBody>
      </p:sp>
      <p:sp>
        <p:nvSpPr>
          <p:cNvPr id="3" name="Subtitle 2">
            <a:extLst>
              <a:ext uri="{FF2B5EF4-FFF2-40B4-BE49-F238E27FC236}">
                <a16:creationId xmlns:a16="http://schemas.microsoft.com/office/drawing/2014/main" id="{900C490E-055C-1232-7BF3-72C927F40491}"/>
              </a:ext>
            </a:extLst>
          </p:cNvPr>
          <p:cNvSpPr>
            <a:spLocks noGrp="1"/>
          </p:cNvSpPr>
          <p:nvPr>
            <p:ph type="subTitle" idx="1"/>
          </p:nvPr>
        </p:nvSpPr>
        <p:spPr>
          <a:xfrm>
            <a:off x="7856389" y="1083732"/>
            <a:ext cx="3507653" cy="4690534"/>
          </a:xfrm>
        </p:spPr>
        <p:txBody>
          <a:bodyPr anchor="ctr">
            <a:normAutofit/>
          </a:bodyPr>
          <a:lstStyle/>
          <a:p>
            <a:r>
              <a:rPr lang="en-GB" sz="2800" dirty="0">
                <a:solidFill>
                  <a:schemeClr val="tx1">
                    <a:lumMod val="75000"/>
                    <a:lumOff val="25000"/>
                  </a:schemeClr>
                </a:solidFill>
              </a:rPr>
              <a:t>By: Aryan Arora</a:t>
            </a:r>
          </a:p>
          <a:p>
            <a:r>
              <a:rPr lang="en-GB" sz="2800" dirty="0">
                <a:solidFill>
                  <a:schemeClr val="tx1">
                    <a:lumMod val="75000"/>
                    <a:lumOff val="25000"/>
                  </a:schemeClr>
                </a:solidFill>
              </a:rPr>
              <a:t>VIT Chennai</a:t>
            </a:r>
          </a:p>
          <a:p>
            <a:r>
              <a:rPr lang="en-GB" sz="2800" dirty="0">
                <a:solidFill>
                  <a:schemeClr val="tx1">
                    <a:lumMod val="75000"/>
                    <a:lumOff val="25000"/>
                  </a:schemeClr>
                </a:solidFill>
              </a:rPr>
              <a:t>DS &amp; AI</a:t>
            </a:r>
            <a:endParaRPr lang="en-IN" sz="2800" dirty="0">
              <a:solidFill>
                <a:schemeClr val="tx1">
                  <a:lumMod val="75000"/>
                  <a:lumOff val="25000"/>
                </a:schemeClr>
              </a:solidFill>
            </a:endParaRPr>
          </a:p>
        </p:txBody>
      </p:sp>
      <p:sp>
        <p:nvSpPr>
          <p:cNvPr id="21" name="Rectangle 20">
            <a:extLst>
              <a:ext uri="{FF2B5EF4-FFF2-40B4-BE49-F238E27FC236}">
                <a16:creationId xmlns:a16="http://schemas.microsoft.com/office/drawing/2014/main" id="{E6BC9B4A-2119-4645-B4CA-7817D5FAF4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3" name="Straight Connector 22">
            <a:extLst>
              <a:ext uri="{FF2B5EF4-FFF2-40B4-BE49-F238E27FC236}">
                <a16:creationId xmlns:a16="http://schemas.microsoft.com/office/drawing/2014/main" id="{158D888F-D87A-4C3C-BD82-273E4C8C5E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9A2CD81-3BB6-4ED6-A50F-DC14F37A9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577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1129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90E7-4F72-0E25-6210-7215851EABB0}"/>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3C88FDA5-DD38-F62F-E6EF-34577DDF65FE}"/>
              </a:ext>
            </a:extLst>
          </p:cNvPr>
          <p:cNvSpPr>
            <a:spLocks noGrp="1"/>
          </p:cNvSpPr>
          <p:nvPr>
            <p:ph idx="1"/>
          </p:nvPr>
        </p:nvSpPr>
        <p:spPr>
          <a:xfrm>
            <a:off x="3869268" y="864107"/>
            <a:ext cx="7315200" cy="5236889"/>
          </a:xfrm>
        </p:spPr>
        <p:txBody>
          <a:bodyPr>
            <a:normAutofit lnSpcReduction="10000"/>
          </a:bodyPr>
          <a:lstStyle/>
          <a:p>
            <a:r>
              <a:rPr lang="en-US" sz="2400" dirty="0"/>
              <a:t>Indian private banks handle over 10 million support calls monthly with 6-plus minute average handle times and high IVR frustration, leading to poor CSAT scores and customer churn. Tier-1 queries such as balance checks, card blocks, and EMI schedules represent 60% of call volume but consume the same agent time as complex issues.</a:t>
            </a:r>
          </a:p>
          <a:p>
            <a:endParaRPr lang="en-US" sz="2400" dirty="0"/>
          </a:p>
          <a:p>
            <a:r>
              <a:rPr lang="en-US" sz="2400" dirty="0"/>
              <a:t>Junior advocates spend weeks searching thousands of Supreme Court and High Court judgments on rulings to find relevant precedents, which is a slow and incomplete process. Senior lawyer time for research costs between 2,000 and 10,000 rupees per hour, making thorough legal research economically inaccessible for small firms.</a:t>
            </a:r>
            <a:endParaRPr lang="en-IN" sz="2400" dirty="0"/>
          </a:p>
          <a:p>
            <a:endParaRPr lang="en-US" sz="2400" dirty="0"/>
          </a:p>
          <a:p>
            <a:endParaRPr lang="en-IN" sz="2400" dirty="0"/>
          </a:p>
        </p:txBody>
      </p:sp>
    </p:spTree>
    <p:extLst>
      <p:ext uri="{BB962C8B-B14F-4D97-AF65-F5344CB8AC3E}">
        <p14:creationId xmlns:p14="http://schemas.microsoft.com/office/powerpoint/2010/main" val="1465024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69DA-6F6C-52CA-596D-C7792DC2075A}"/>
              </a:ext>
            </a:extLst>
          </p:cNvPr>
          <p:cNvSpPr>
            <a:spLocks noGrp="1"/>
          </p:cNvSpPr>
          <p:nvPr>
            <p:ph type="title"/>
          </p:nvPr>
        </p:nvSpPr>
        <p:spPr/>
        <p:txBody>
          <a:bodyPr/>
          <a:lstStyle/>
          <a:p>
            <a:r>
              <a:rPr lang="en-US" dirty="0"/>
              <a:t>Solution Overview</a:t>
            </a:r>
            <a:endParaRPr lang="en-IN" dirty="0"/>
          </a:p>
        </p:txBody>
      </p:sp>
      <p:sp>
        <p:nvSpPr>
          <p:cNvPr id="3" name="Content Placeholder 2">
            <a:extLst>
              <a:ext uri="{FF2B5EF4-FFF2-40B4-BE49-F238E27FC236}">
                <a16:creationId xmlns:a16="http://schemas.microsoft.com/office/drawing/2014/main" id="{DF8CC0C6-7675-AE22-8160-0E0C3991D8E6}"/>
              </a:ext>
            </a:extLst>
          </p:cNvPr>
          <p:cNvSpPr>
            <a:spLocks noGrp="1"/>
          </p:cNvSpPr>
          <p:nvPr>
            <p:ph idx="1"/>
          </p:nvPr>
        </p:nvSpPr>
        <p:spPr>
          <a:xfrm>
            <a:off x="3869268" y="864108"/>
            <a:ext cx="7315200" cy="5326830"/>
          </a:xfrm>
        </p:spPr>
        <p:txBody>
          <a:bodyPr>
            <a:normAutofit lnSpcReduction="10000"/>
          </a:bodyPr>
          <a:lstStyle/>
          <a:p>
            <a:r>
              <a:rPr lang="en-US" sz="2400" dirty="0"/>
              <a:t>A real-time voice AI agent using </a:t>
            </a:r>
            <a:r>
              <a:rPr lang="en-US" sz="2400" dirty="0" err="1"/>
              <a:t>Pipecat</a:t>
            </a:r>
            <a:r>
              <a:rPr lang="en-US" sz="2400" dirty="0"/>
              <a:t> for call orchestration, faster-whisper for streaming speech-to-text, Coqui TTS for text-to-speech, and a RAG backend grounded on bank policy documents. The agent handles Tier-1 queries and escalates complex queries to human agents with full conversation context and entity summary.</a:t>
            </a:r>
          </a:p>
          <a:p>
            <a:endParaRPr lang="en-US" sz="2400" dirty="0"/>
          </a:p>
          <a:p>
            <a:r>
              <a:rPr lang="en-US" sz="2400" dirty="0"/>
              <a:t>A RAG application over the Indian Kanoon corpus and uploaded case files using legal-domain embeddings, two-stage hybrid retrieval, and LLM-based holding extraction, enabling advocates to find relevant precedents, extract ratio decidendi, and auto-draft structured argument outlines with citation-linked evidence.</a:t>
            </a:r>
            <a:endParaRPr lang="en-IN" sz="2400" dirty="0"/>
          </a:p>
          <a:p>
            <a:endParaRPr lang="en-IN" sz="2400" dirty="0"/>
          </a:p>
        </p:txBody>
      </p:sp>
    </p:spTree>
    <p:extLst>
      <p:ext uri="{BB962C8B-B14F-4D97-AF65-F5344CB8AC3E}">
        <p14:creationId xmlns:p14="http://schemas.microsoft.com/office/powerpoint/2010/main" val="2470409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024D-CED2-D21A-F747-F39E713D0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ABBE1-CE10-E849-9B50-BF2B057982FB}"/>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33F11905-8014-F6A7-DFA7-867B7EC16577}"/>
              </a:ext>
            </a:extLst>
          </p:cNvPr>
          <p:cNvSpPr>
            <a:spLocks noGrp="1"/>
          </p:cNvSpPr>
          <p:nvPr>
            <p:ph idx="1"/>
          </p:nvPr>
        </p:nvSpPr>
        <p:spPr>
          <a:xfrm>
            <a:off x="3582649" y="419725"/>
            <a:ext cx="8169640" cy="3009275"/>
          </a:xfrm>
        </p:spPr>
        <p:txBody>
          <a:bodyPr>
            <a:normAutofit fontScale="92500" lnSpcReduction="20000"/>
          </a:bodyPr>
          <a:lstStyle/>
          <a:p>
            <a:pPr marL="0" indent="0">
              <a:buNone/>
            </a:pPr>
            <a:r>
              <a:rPr lang="en-US" sz="1800" b="1" dirty="0"/>
              <a:t>Project 1</a:t>
            </a:r>
          </a:p>
          <a:p>
            <a:r>
              <a:rPr lang="en-US" sz="1800" dirty="0"/>
              <a:t>End-to-end voice pipeline: browser mic or Asterisk to faster-whisper STT to intent detection to RAG to Coqui TTS.</a:t>
            </a:r>
          </a:p>
          <a:p>
            <a:r>
              <a:rPr lang="en-US" sz="1800" dirty="0"/>
              <a:t>RAG knowledge base over bank FAQ PDFs, policy documents, and product sheets.</a:t>
            </a:r>
          </a:p>
          <a:p>
            <a:r>
              <a:rPr lang="en-US" sz="1800" dirty="0"/>
              <a:t>Intent classifier for banking: balance, card block, EMI, NEFT, cheque, FD, and more.</a:t>
            </a:r>
          </a:p>
          <a:p>
            <a:r>
              <a:rPr lang="en-IN" sz="1800" dirty="0"/>
              <a:t>Seamless human escalation</a:t>
            </a:r>
          </a:p>
          <a:p>
            <a:r>
              <a:rPr lang="en-US" sz="1800" dirty="0"/>
              <a:t>Call analytics dashboard: intent distribution, resolution rate, and average handle time</a:t>
            </a:r>
          </a:p>
          <a:p>
            <a:r>
              <a:rPr lang="en-US" sz="1800" dirty="0"/>
              <a:t>DTMF keypad fallback for low-network conditions</a:t>
            </a:r>
          </a:p>
          <a:p>
            <a:r>
              <a:rPr lang="en-US" sz="1800" dirty="0"/>
              <a:t>WebSocket-based deployment with Redis session management</a:t>
            </a:r>
            <a:endParaRPr lang="en-IN" sz="1800" dirty="0"/>
          </a:p>
        </p:txBody>
      </p:sp>
      <p:sp>
        <p:nvSpPr>
          <p:cNvPr id="4" name="Content Placeholder 2">
            <a:extLst>
              <a:ext uri="{FF2B5EF4-FFF2-40B4-BE49-F238E27FC236}">
                <a16:creationId xmlns:a16="http://schemas.microsoft.com/office/drawing/2014/main" id="{C1F5606B-AFB5-0105-931E-215446FD92D6}"/>
              </a:ext>
            </a:extLst>
          </p:cNvPr>
          <p:cNvSpPr txBox="1">
            <a:spLocks/>
          </p:cNvSpPr>
          <p:nvPr/>
        </p:nvSpPr>
        <p:spPr>
          <a:xfrm>
            <a:off x="3582649" y="3429000"/>
            <a:ext cx="8169640" cy="3009275"/>
          </a:xfrm>
          <a:prstGeom prst="rect">
            <a:avLst/>
          </a:prstGeom>
        </p:spPr>
        <p:txBody>
          <a:bodyPr vert="horz" lIns="91440" tIns="45720" rIns="91440" bIns="45720" rtlCol="0" anchor="ctr">
            <a:normAutofit lnSpcReduction="1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0" indent="0">
              <a:buNone/>
            </a:pPr>
            <a:r>
              <a:rPr lang="en-US" sz="1900" b="1" dirty="0"/>
              <a:t>Project 2</a:t>
            </a:r>
            <a:endParaRPr lang="en-US" sz="1800" b="1" dirty="0"/>
          </a:p>
          <a:p>
            <a:pPr marL="342900" indent="-342900">
              <a:buFont typeface="Arial" panose="020B0604020202020204" pitchFamily="34" charset="0"/>
              <a:buChar char="•"/>
            </a:pPr>
            <a:r>
              <a:rPr lang="en-US" sz="1800" dirty="0"/>
              <a:t>Indian Kanoon scraper: 50,000 Supreme Court and High Court judgments</a:t>
            </a:r>
          </a:p>
          <a:p>
            <a:pPr marL="342900" indent="-342900">
              <a:buFont typeface="Arial" panose="020B0604020202020204" pitchFamily="34" charset="0"/>
              <a:buChar char="•"/>
            </a:pPr>
            <a:r>
              <a:rPr lang="en-IN" sz="1800" dirty="0"/>
              <a:t>Legal-domain chunking</a:t>
            </a:r>
          </a:p>
          <a:p>
            <a:pPr marL="342900" indent="-342900">
              <a:buFont typeface="Arial" panose="020B0604020202020204" pitchFamily="34" charset="0"/>
              <a:buChar char="•"/>
            </a:pPr>
            <a:r>
              <a:rPr lang="en-IN" sz="1800" dirty="0"/>
              <a:t>Hybrid retrieval</a:t>
            </a:r>
          </a:p>
          <a:p>
            <a:pPr marL="342900" indent="-342900">
              <a:buFont typeface="Arial" panose="020B0604020202020204" pitchFamily="34" charset="0"/>
              <a:buChar char="•"/>
            </a:pPr>
            <a:r>
              <a:rPr lang="en-IN" sz="1800" dirty="0"/>
              <a:t>Holding summariser</a:t>
            </a:r>
          </a:p>
          <a:p>
            <a:pPr marL="342900" indent="-342900">
              <a:buFont typeface="Arial" panose="020B0604020202020204" pitchFamily="34" charset="0"/>
              <a:buChar char="•"/>
            </a:pPr>
            <a:r>
              <a:rPr lang="en-US" sz="1800" dirty="0"/>
              <a:t>Argument outline drafter: pro and contra positions with supporting precedent citations</a:t>
            </a:r>
          </a:p>
          <a:p>
            <a:pPr marL="342900" indent="-342900">
              <a:buFont typeface="Arial" panose="020B0604020202020204" pitchFamily="34" charset="0"/>
              <a:buChar char="•"/>
            </a:pPr>
            <a:r>
              <a:rPr lang="en-US" sz="1800" dirty="0"/>
              <a:t>Case upload: advocate uploads client case file for session-specific contextual retrieval</a:t>
            </a:r>
            <a:endParaRPr lang="en-IN" sz="1800" dirty="0"/>
          </a:p>
        </p:txBody>
      </p:sp>
    </p:spTree>
    <p:extLst>
      <p:ext uri="{BB962C8B-B14F-4D97-AF65-F5344CB8AC3E}">
        <p14:creationId xmlns:p14="http://schemas.microsoft.com/office/powerpoint/2010/main" val="3162752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EC106-2771-8066-4DD9-49DA5E5A541D}"/>
              </a:ext>
            </a:extLst>
          </p:cNvPr>
          <p:cNvSpPr>
            <a:spLocks noGrp="1"/>
          </p:cNvSpPr>
          <p:nvPr>
            <p:ph type="title"/>
          </p:nvPr>
        </p:nvSpPr>
        <p:spPr/>
        <p:txBody>
          <a:bodyPr/>
          <a:lstStyle/>
          <a:p>
            <a:r>
              <a:rPr lang="en-US" dirty="0"/>
              <a:t>Dataset</a:t>
            </a:r>
            <a:endParaRPr lang="en-IN" dirty="0"/>
          </a:p>
        </p:txBody>
      </p:sp>
      <p:sp>
        <p:nvSpPr>
          <p:cNvPr id="3" name="Content Placeholder 2">
            <a:extLst>
              <a:ext uri="{FF2B5EF4-FFF2-40B4-BE49-F238E27FC236}">
                <a16:creationId xmlns:a16="http://schemas.microsoft.com/office/drawing/2014/main" id="{90066223-E67F-DE1F-A9AA-FB1F9E4E7066}"/>
              </a:ext>
            </a:extLst>
          </p:cNvPr>
          <p:cNvSpPr>
            <a:spLocks noGrp="1"/>
          </p:cNvSpPr>
          <p:nvPr>
            <p:ph idx="1"/>
          </p:nvPr>
        </p:nvSpPr>
        <p:spPr>
          <a:xfrm>
            <a:off x="3869268" y="864109"/>
            <a:ext cx="7315200" cy="1684220"/>
          </a:xfrm>
        </p:spPr>
        <p:txBody>
          <a:bodyPr>
            <a:normAutofit fontScale="92500"/>
          </a:bodyPr>
          <a:lstStyle/>
          <a:p>
            <a:pPr marL="0" indent="0">
              <a:buNone/>
            </a:pPr>
            <a:r>
              <a:rPr lang="en-US" sz="2400" b="1" dirty="0"/>
              <a:t>Project 1</a:t>
            </a:r>
          </a:p>
          <a:p>
            <a:r>
              <a:rPr lang="en-US" sz="2400" dirty="0"/>
              <a:t>Due to r</a:t>
            </a:r>
            <a:r>
              <a:rPr lang="en-IN" sz="2400" dirty="0" err="1"/>
              <a:t>eal</a:t>
            </a:r>
            <a:r>
              <a:rPr lang="en-IN" sz="2400" dirty="0"/>
              <a:t> banking conversations contain sensitive financial and personally identifiable information. Instead, we can create a synthetic banking customer-support dataset.</a:t>
            </a:r>
          </a:p>
        </p:txBody>
      </p:sp>
      <p:sp>
        <p:nvSpPr>
          <p:cNvPr id="4" name="Content Placeholder 2">
            <a:extLst>
              <a:ext uri="{FF2B5EF4-FFF2-40B4-BE49-F238E27FC236}">
                <a16:creationId xmlns:a16="http://schemas.microsoft.com/office/drawing/2014/main" id="{D720A3BF-9DB9-F45C-40FC-8B02F8984565}"/>
              </a:ext>
            </a:extLst>
          </p:cNvPr>
          <p:cNvSpPr txBox="1">
            <a:spLocks/>
          </p:cNvSpPr>
          <p:nvPr/>
        </p:nvSpPr>
        <p:spPr>
          <a:xfrm>
            <a:off x="3869268" y="3467562"/>
            <a:ext cx="7315200" cy="1684220"/>
          </a:xfrm>
          <a:prstGeom prst="rect">
            <a:avLst/>
          </a:prstGeom>
        </p:spPr>
        <p:txBody>
          <a:bodyPr vert="horz" lIns="91440" tIns="45720" rIns="91440" bIns="45720" rtlCol="0" anchor="ctr">
            <a:normAutofit fontScale="92500" lnSpcReduction="10000"/>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sz="2400" b="1" dirty="0"/>
              <a:t>Project 2</a:t>
            </a:r>
          </a:p>
          <a:p>
            <a:r>
              <a:rPr lang="en-US" sz="2400" dirty="0"/>
              <a:t>Open India Law- Hugging Face Dataset is to be used for the project. It contains judgments from the Supreme Court and all 25 High Courts of India. The current corpus has more than 12.8 million court judgments, covering roughly 1950–2025.</a:t>
            </a:r>
          </a:p>
          <a:p>
            <a:endParaRPr lang="en-IN" sz="2400" dirty="0"/>
          </a:p>
        </p:txBody>
      </p:sp>
    </p:spTree>
    <p:extLst>
      <p:ext uri="{BB962C8B-B14F-4D97-AF65-F5344CB8AC3E}">
        <p14:creationId xmlns:p14="http://schemas.microsoft.com/office/powerpoint/2010/main" val="4292092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AA13-E3F3-0410-B78B-1B05EA91B141}"/>
              </a:ext>
            </a:extLst>
          </p:cNvPr>
          <p:cNvSpPr>
            <a:spLocks noGrp="1"/>
          </p:cNvSpPr>
          <p:nvPr>
            <p:ph type="title"/>
          </p:nvPr>
        </p:nvSpPr>
        <p:spPr/>
        <p:txBody>
          <a:bodyPr/>
          <a:lstStyle/>
          <a:p>
            <a:r>
              <a:rPr lang="en-US" dirty="0"/>
              <a:t>Technical Stack</a:t>
            </a:r>
            <a:endParaRPr lang="en-IN" dirty="0"/>
          </a:p>
        </p:txBody>
      </p:sp>
      <p:graphicFrame>
        <p:nvGraphicFramePr>
          <p:cNvPr id="4" name="Content Placeholder 3">
            <a:extLst>
              <a:ext uri="{FF2B5EF4-FFF2-40B4-BE49-F238E27FC236}">
                <a16:creationId xmlns:a16="http://schemas.microsoft.com/office/drawing/2014/main" id="{AD236D29-85BD-3B49-1C9B-18AF6B39FF92}"/>
              </a:ext>
            </a:extLst>
          </p:cNvPr>
          <p:cNvGraphicFramePr>
            <a:graphicFrameLocks noGrp="1"/>
          </p:cNvGraphicFramePr>
          <p:nvPr>
            <p:ph idx="1"/>
            <p:extLst>
              <p:ext uri="{D42A27DB-BD31-4B8C-83A1-F6EECF244321}">
                <p14:modId xmlns:p14="http://schemas.microsoft.com/office/powerpoint/2010/main" val="1607454072"/>
              </p:ext>
            </p:extLst>
          </p:nvPr>
        </p:nvGraphicFramePr>
        <p:xfrm>
          <a:off x="3868738" y="863600"/>
          <a:ext cx="7315200" cy="3977640"/>
        </p:xfrm>
        <a:graphic>
          <a:graphicData uri="http://schemas.openxmlformats.org/drawingml/2006/table">
            <a:tbl>
              <a:tblPr firstRow="1" bandRow="1">
                <a:tableStyleId>{5C22544A-7EE6-4342-B048-85BDC9FD1C3A}</a:tableStyleId>
              </a:tblPr>
              <a:tblGrid>
                <a:gridCol w="1887485">
                  <a:extLst>
                    <a:ext uri="{9D8B030D-6E8A-4147-A177-3AD203B41FA5}">
                      <a16:colId xmlns:a16="http://schemas.microsoft.com/office/drawing/2014/main" val="1694806031"/>
                    </a:ext>
                  </a:extLst>
                </a:gridCol>
                <a:gridCol w="5427715">
                  <a:extLst>
                    <a:ext uri="{9D8B030D-6E8A-4147-A177-3AD203B41FA5}">
                      <a16:colId xmlns:a16="http://schemas.microsoft.com/office/drawing/2014/main" val="911155316"/>
                    </a:ext>
                  </a:extLst>
                </a:gridCol>
              </a:tblGrid>
              <a:tr h="370840">
                <a:tc>
                  <a:txBody>
                    <a:bodyPr/>
                    <a:lstStyle/>
                    <a:p>
                      <a:r>
                        <a:rPr lang="en-US" dirty="0"/>
                        <a:t>Layer</a:t>
                      </a:r>
                      <a:endParaRPr lang="en-IN" dirty="0"/>
                    </a:p>
                  </a:txBody>
                  <a:tcPr marL="63611" marR="63611"/>
                </a:tc>
                <a:tc>
                  <a:txBody>
                    <a:bodyPr/>
                    <a:lstStyle/>
                    <a:p>
                      <a:r>
                        <a:rPr lang="en-IN" dirty="0"/>
                        <a:t>Free / Open-Source Technology</a:t>
                      </a:r>
                    </a:p>
                  </a:txBody>
                  <a:tcPr marL="63611" marR="63611"/>
                </a:tc>
                <a:extLst>
                  <a:ext uri="{0D108BD9-81ED-4DB2-BD59-A6C34878D82A}">
                    <a16:rowId xmlns:a16="http://schemas.microsoft.com/office/drawing/2014/main" val="796045321"/>
                  </a:ext>
                </a:extLst>
              </a:tr>
              <a:tr h="370840">
                <a:tc>
                  <a:txBody>
                    <a:bodyPr/>
                    <a:lstStyle/>
                    <a:p>
                      <a:r>
                        <a:rPr lang="en-IN" dirty="0"/>
                        <a:t>Call Orchestration</a:t>
                      </a:r>
                    </a:p>
                  </a:txBody>
                  <a:tcPr marL="63611" marR="63611"/>
                </a:tc>
                <a:tc>
                  <a:txBody>
                    <a:bodyPr/>
                    <a:lstStyle/>
                    <a:p>
                      <a:r>
                        <a:rPr lang="en-IN" dirty="0" err="1"/>
                        <a:t>Pipecat</a:t>
                      </a:r>
                      <a:endParaRPr lang="en-IN" dirty="0"/>
                    </a:p>
                  </a:txBody>
                  <a:tcPr marL="63611" marR="63611"/>
                </a:tc>
                <a:extLst>
                  <a:ext uri="{0D108BD9-81ED-4DB2-BD59-A6C34878D82A}">
                    <a16:rowId xmlns:a16="http://schemas.microsoft.com/office/drawing/2014/main" val="2295941272"/>
                  </a:ext>
                </a:extLst>
              </a:tr>
              <a:tr h="370840">
                <a:tc>
                  <a:txBody>
                    <a:bodyPr/>
                    <a:lstStyle/>
                    <a:p>
                      <a:r>
                        <a:rPr lang="en-IN" dirty="0"/>
                        <a:t>Telephony</a:t>
                      </a:r>
                    </a:p>
                  </a:txBody>
                  <a:tcPr marL="63611" marR="63611"/>
                </a:tc>
                <a:tc>
                  <a:txBody>
                    <a:bodyPr/>
                    <a:lstStyle/>
                    <a:p>
                      <a:r>
                        <a:rPr lang="en-IN" dirty="0"/>
                        <a:t>Browser WebSocket mic</a:t>
                      </a:r>
                    </a:p>
                  </a:txBody>
                  <a:tcPr marL="63611" marR="63611"/>
                </a:tc>
                <a:extLst>
                  <a:ext uri="{0D108BD9-81ED-4DB2-BD59-A6C34878D82A}">
                    <a16:rowId xmlns:a16="http://schemas.microsoft.com/office/drawing/2014/main" val="3821718340"/>
                  </a:ext>
                </a:extLst>
              </a:tr>
              <a:tr h="370840">
                <a:tc>
                  <a:txBody>
                    <a:bodyPr/>
                    <a:lstStyle/>
                    <a:p>
                      <a:r>
                        <a:rPr lang="en-IN" dirty="0"/>
                        <a:t>Speech-to-Text</a:t>
                      </a:r>
                    </a:p>
                  </a:txBody>
                  <a:tcPr marL="63611" marR="63611"/>
                </a:tc>
                <a:tc>
                  <a:txBody>
                    <a:bodyPr/>
                    <a:lstStyle/>
                    <a:p>
                      <a:r>
                        <a:rPr lang="en-IN" dirty="0"/>
                        <a:t>Whisper large-v3 local inference,</a:t>
                      </a:r>
                    </a:p>
                  </a:txBody>
                  <a:tcPr marL="63611" marR="63611"/>
                </a:tc>
                <a:extLst>
                  <a:ext uri="{0D108BD9-81ED-4DB2-BD59-A6C34878D82A}">
                    <a16:rowId xmlns:a16="http://schemas.microsoft.com/office/drawing/2014/main" val="2750868976"/>
                  </a:ext>
                </a:extLst>
              </a:tr>
              <a:tr h="370840">
                <a:tc>
                  <a:txBody>
                    <a:bodyPr/>
                    <a:lstStyle/>
                    <a:p>
                      <a:r>
                        <a:rPr lang="en-IN" dirty="0"/>
                        <a:t>Text-to-Speech</a:t>
                      </a:r>
                    </a:p>
                  </a:txBody>
                  <a:tcPr marL="63611" marR="63611"/>
                </a:tc>
                <a:tc>
                  <a:txBody>
                    <a:bodyPr/>
                    <a:lstStyle/>
                    <a:p>
                      <a:r>
                        <a:rPr lang="en-US" dirty="0"/>
                        <a:t>Coqui TTS or Kokoro TTS</a:t>
                      </a:r>
                      <a:endParaRPr lang="en-IN" dirty="0"/>
                    </a:p>
                  </a:txBody>
                  <a:tcPr marL="63611" marR="63611"/>
                </a:tc>
                <a:extLst>
                  <a:ext uri="{0D108BD9-81ED-4DB2-BD59-A6C34878D82A}">
                    <a16:rowId xmlns:a16="http://schemas.microsoft.com/office/drawing/2014/main" val="1967892122"/>
                  </a:ext>
                </a:extLst>
              </a:tr>
              <a:tr h="370840">
                <a:tc>
                  <a:txBody>
                    <a:bodyPr/>
                    <a:lstStyle/>
                    <a:p>
                      <a:r>
                        <a:rPr lang="en-IN" dirty="0"/>
                        <a:t>Intent Detection</a:t>
                      </a:r>
                    </a:p>
                  </a:txBody>
                  <a:tcPr marL="63611" marR="63611"/>
                </a:tc>
                <a:tc>
                  <a:txBody>
                    <a:bodyPr/>
                    <a:lstStyle/>
                    <a:p>
                      <a:r>
                        <a:rPr lang="en-IN" dirty="0" err="1"/>
                        <a:t>Ollama</a:t>
                      </a:r>
                      <a:r>
                        <a:rPr lang="en-IN" dirty="0"/>
                        <a:t> + Llama 3.1 8B with function calling</a:t>
                      </a:r>
                    </a:p>
                  </a:txBody>
                  <a:tcPr marL="63611" marR="63611"/>
                </a:tc>
                <a:extLst>
                  <a:ext uri="{0D108BD9-81ED-4DB2-BD59-A6C34878D82A}">
                    <a16:rowId xmlns:a16="http://schemas.microsoft.com/office/drawing/2014/main" val="946935523"/>
                  </a:ext>
                </a:extLst>
              </a:tr>
              <a:tr h="370840">
                <a:tc>
                  <a:txBody>
                    <a:bodyPr/>
                    <a:lstStyle/>
                    <a:p>
                      <a:r>
                        <a:rPr lang="en-IN" dirty="0"/>
                        <a:t>RAG Backend</a:t>
                      </a:r>
                    </a:p>
                  </a:txBody>
                  <a:tcPr marL="63611" marR="63611"/>
                </a:tc>
                <a:tc>
                  <a:txBody>
                    <a:bodyPr/>
                    <a:lstStyle/>
                    <a:p>
                      <a:r>
                        <a:rPr lang="es-ES" dirty="0" err="1"/>
                        <a:t>LangChain</a:t>
                      </a:r>
                      <a:r>
                        <a:rPr lang="es-ES" dirty="0"/>
                        <a:t> + </a:t>
                      </a:r>
                      <a:r>
                        <a:rPr lang="es-ES" dirty="0" err="1"/>
                        <a:t>ChromaDB</a:t>
                      </a:r>
                      <a:r>
                        <a:rPr lang="es-ES" dirty="0"/>
                        <a:t> + Ollama Llama 3.1</a:t>
                      </a:r>
                      <a:endParaRPr lang="en-IN" dirty="0"/>
                    </a:p>
                  </a:txBody>
                  <a:tcPr marL="63611" marR="63611"/>
                </a:tc>
                <a:extLst>
                  <a:ext uri="{0D108BD9-81ED-4DB2-BD59-A6C34878D82A}">
                    <a16:rowId xmlns:a16="http://schemas.microsoft.com/office/drawing/2014/main" val="3428261514"/>
                  </a:ext>
                </a:extLst>
              </a:tr>
              <a:tr h="370840">
                <a:tc>
                  <a:txBody>
                    <a:bodyPr/>
                    <a:lstStyle/>
                    <a:p>
                      <a:r>
                        <a:rPr lang="en-IN" dirty="0"/>
                        <a:t>Backend</a:t>
                      </a:r>
                    </a:p>
                  </a:txBody>
                  <a:tcPr marL="63611" marR="63611"/>
                </a:tc>
                <a:tc>
                  <a:txBody>
                    <a:bodyPr/>
                    <a:lstStyle/>
                    <a:p>
                      <a:r>
                        <a:rPr lang="en-IN" dirty="0" err="1"/>
                        <a:t>FastAPI</a:t>
                      </a:r>
                      <a:r>
                        <a:rPr lang="en-IN" dirty="0"/>
                        <a:t>+ </a:t>
                      </a:r>
                      <a:r>
                        <a:rPr lang="en-IN" dirty="0" err="1"/>
                        <a:t>WebSockets</a:t>
                      </a:r>
                      <a:r>
                        <a:rPr lang="en-IN"/>
                        <a:t> + Redis via Docker</a:t>
                      </a:r>
                      <a:endParaRPr lang="en-IN" dirty="0"/>
                    </a:p>
                  </a:txBody>
                  <a:tcPr marL="63611" marR="63611"/>
                </a:tc>
                <a:extLst>
                  <a:ext uri="{0D108BD9-81ED-4DB2-BD59-A6C34878D82A}">
                    <a16:rowId xmlns:a16="http://schemas.microsoft.com/office/drawing/2014/main" val="4254895733"/>
                  </a:ext>
                </a:extLst>
              </a:tr>
              <a:tr h="370840">
                <a:tc>
                  <a:txBody>
                    <a:bodyPr/>
                    <a:lstStyle/>
                    <a:p>
                      <a:r>
                        <a:rPr lang="en-IN" dirty="0"/>
                        <a:t>Storage</a:t>
                      </a:r>
                    </a:p>
                  </a:txBody>
                  <a:tcPr marL="63611" marR="63611"/>
                </a:tc>
                <a:tc>
                  <a:txBody>
                    <a:bodyPr/>
                    <a:lstStyle/>
                    <a:p>
                      <a:r>
                        <a:rPr lang="en-US" dirty="0" err="1"/>
                        <a:t>MinIO</a:t>
                      </a:r>
                      <a:r>
                        <a:rPr lang="en-US" dirty="0"/>
                        <a:t> for call recordings + PostgreSQL via Docker for transcripts</a:t>
                      </a:r>
                      <a:endParaRPr lang="en-IN" dirty="0"/>
                    </a:p>
                  </a:txBody>
                  <a:tcPr marL="63611" marR="63611"/>
                </a:tc>
                <a:extLst>
                  <a:ext uri="{0D108BD9-81ED-4DB2-BD59-A6C34878D82A}">
                    <a16:rowId xmlns:a16="http://schemas.microsoft.com/office/drawing/2014/main" val="3174950974"/>
                  </a:ext>
                </a:extLst>
              </a:tr>
              <a:tr h="370840">
                <a:tc>
                  <a:txBody>
                    <a:bodyPr/>
                    <a:lstStyle/>
                    <a:p>
                      <a:r>
                        <a:rPr lang="en-IN" dirty="0"/>
                        <a:t>Deployment</a:t>
                      </a:r>
                    </a:p>
                  </a:txBody>
                  <a:tcPr marL="63611" marR="63611"/>
                </a:tc>
                <a:tc>
                  <a:txBody>
                    <a:bodyPr/>
                    <a:lstStyle/>
                    <a:p>
                      <a:r>
                        <a:rPr lang="en-US" dirty="0"/>
                        <a:t>Docker Compose local + Nginx WebSocket proxy</a:t>
                      </a:r>
                      <a:endParaRPr lang="en-IN" dirty="0"/>
                    </a:p>
                  </a:txBody>
                  <a:tcPr marL="63611" marR="63611"/>
                </a:tc>
                <a:extLst>
                  <a:ext uri="{0D108BD9-81ED-4DB2-BD59-A6C34878D82A}">
                    <a16:rowId xmlns:a16="http://schemas.microsoft.com/office/drawing/2014/main" val="97494831"/>
                  </a:ext>
                </a:extLst>
              </a:tr>
            </a:tbl>
          </a:graphicData>
        </a:graphic>
      </p:graphicFrame>
    </p:spTree>
    <p:extLst>
      <p:ext uri="{BB962C8B-B14F-4D97-AF65-F5344CB8AC3E}">
        <p14:creationId xmlns:p14="http://schemas.microsoft.com/office/powerpoint/2010/main" val="2385373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E93A-4B5B-2267-2D65-BA9A96CC89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7EF4F-B1D0-E249-E3D2-733A8EC720ED}"/>
              </a:ext>
            </a:extLst>
          </p:cNvPr>
          <p:cNvSpPr>
            <a:spLocks noGrp="1"/>
          </p:cNvSpPr>
          <p:nvPr>
            <p:ph type="title"/>
          </p:nvPr>
        </p:nvSpPr>
        <p:spPr/>
        <p:txBody>
          <a:bodyPr/>
          <a:lstStyle/>
          <a:p>
            <a:r>
              <a:rPr lang="en-US" dirty="0"/>
              <a:t>Technical Stack</a:t>
            </a:r>
            <a:endParaRPr lang="en-IN" dirty="0"/>
          </a:p>
        </p:txBody>
      </p:sp>
      <p:sp>
        <p:nvSpPr>
          <p:cNvPr id="5" name="Content Placeholder 4">
            <a:extLst>
              <a:ext uri="{FF2B5EF4-FFF2-40B4-BE49-F238E27FC236}">
                <a16:creationId xmlns:a16="http://schemas.microsoft.com/office/drawing/2014/main" id="{B1CC8A36-BCE4-4AEB-5AFA-F1FEEF7078BA}"/>
              </a:ext>
            </a:extLst>
          </p:cNvPr>
          <p:cNvSpPr>
            <a:spLocks noGrp="1"/>
          </p:cNvSpPr>
          <p:nvPr>
            <p:ph idx="1"/>
          </p:nvPr>
        </p:nvSpPr>
        <p:spPr/>
        <p:txBody>
          <a:bodyPr/>
          <a:lstStyle/>
          <a:p>
            <a:endParaRPr lang="en-IN" dirty="0"/>
          </a:p>
        </p:txBody>
      </p:sp>
      <p:graphicFrame>
        <p:nvGraphicFramePr>
          <p:cNvPr id="6" name="Content Placeholder 3">
            <a:extLst>
              <a:ext uri="{FF2B5EF4-FFF2-40B4-BE49-F238E27FC236}">
                <a16:creationId xmlns:a16="http://schemas.microsoft.com/office/drawing/2014/main" id="{9BEEA7AE-B8C8-3389-085C-E8BD0CD44A76}"/>
              </a:ext>
            </a:extLst>
          </p:cNvPr>
          <p:cNvGraphicFramePr>
            <a:graphicFrameLocks/>
          </p:cNvGraphicFramePr>
          <p:nvPr>
            <p:extLst>
              <p:ext uri="{D42A27DB-BD31-4B8C-83A1-F6EECF244321}">
                <p14:modId xmlns:p14="http://schemas.microsoft.com/office/powerpoint/2010/main" val="2313208653"/>
              </p:ext>
            </p:extLst>
          </p:nvPr>
        </p:nvGraphicFramePr>
        <p:xfrm>
          <a:off x="3869268" y="864108"/>
          <a:ext cx="7315200" cy="5129788"/>
        </p:xfrm>
        <a:graphic>
          <a:graphicData uri="http://schemas.openxmlformats.org/drawingml/2006/table">
            <a:tbl>
              <a:tblPr firstRow="1" bandRow="1">
                <a:tableStyleId>{5C22544A-7EE6-4342-B048-85BDC9FD1C3A}</a:tableStyleId>
              </a:tblPr>
              <a:tblGrid>
                <a:gridCol w="1401786">
                  <a:extLst>
                    <a:ext uri="{9D8B030D-6E8A-4147-A177-3AD203B41FA5}">
                      <a16:colId xmlns:a16="http://schemas.microsoft.com/office/drawing/2014/main" val="1694806031"/>
                    </a:ext>
                  </a:extLst>
                </a:gridCol>
                <a:gridCol w="5913414">
                  <a:extLst>
                    <a:ext uri="{9D8B030D-6E8A-4147-A177-3AD203B41FA5}">
                      <a16:colId xmlns:a16="http://schemas.microsoft.com/office/drawing/2014/main" val="911155316"/>
                    </a:ext>
                  </a:extLst>
                </a:gridCol>
              </a:tblGrid>
              <a:tr h="447936">
                <a:tc>
                  <a:txBody>
                    <a:bodyPr/>
                    <a:lstStyle/>
                    <a:p>
                      <a:r>
                        <a:rPr lang="en-US" dirty="0"/>
                        <a:t>Layer</a:t>
                      </a:r>
                      <a:endParaRPr lang="en-IN" dirty="0"/>
                    </a:p>
                  </a:txBody>
                  <a:tcPr marL="100910" marR="100910"/>
                </a:tc>
                <a:tc>
                  <a:txBody>
                    <a:bodyPr/>
                    <a:lstStyle/>
                    <a:p>
                      <a:r>
                        <a:rPr lang="en-IN" dirty="0"/>
                        <a:t>Open-Source Technology</a:t>
                      </a:r>
                    </a:p>
                  </a:txBody>
                  <a:tcPr marL="100910" marR="100910"/>
                </a:tc>
                <a:extLst>
                  <a:ext uri="{0D108BD9-81ED-4DB2-BD59-A6C34878D82A}">
                    <a16:rowId xmlns:a16="http://schemas.microsoft.com/office/drawing/2014/main" val="796045321"/>
                  </a:ext>
                </a:extLst>
              </a:tr>
              <a:tr h="773150">
                <a:tc>
                  <a:txBody>
                    <a:bodyPr/>
                    <a:lstStyle/>
                    <a:p>
                      <a:r>
                        <a:rPr lang="en-IN" dirty="0"/>
                        <a:t>Document Parsing</a:t>
                      </a:r>
                    </a:p>
                  </a:txBody>
                  <a:tcPr marL="100910" marR="100910"/>
                </a:tc>
                <a:tc>
                  <a:txBody>
                    <a:bodyPr/>
                    <a:lstStyle/>
                    <a:p>
                      <a:r>
                        <a:rPr lang="en-US" dirty="0" err="1"/>
                        <a:t>PyMuPDF</a:t>
                      </a:r>
                      <a:r>
                        <a:rPr lang="en-US" dirty="0"/>
                        <a:t> + </a:t>
                      </a:r>
                      <a:r>
                        <a:rPr lang="en-US" dirty="0" err="1"/>
                        <a:t>pdfplumber</a:t>
                      </a:r>
                      <a:r>
                        <a:rPr lang="en-US" dirty="0"/>
                        <a:t> + </a:t>
                      </a:r>
                      <a:r>
                        <a:rPr lang="en-US" dirty="0" err="1"/>
                        <a:t>BeautifulSoup</a:t>
                      </a:r>
                      <a:r>
                        <a:rPr lang="en-US" dirty="0"/>
                        <a:t> for scraping  </a:t>
                      </a:r>
                      <a:endParaRPr lang="en-IN" dirty="0"/>
                    </a:p>
                  </a:txBody>
                  <a:tcPr marL="100910" marR="100910"/>
                </a:tc>
                <a:extLst>
                  <a:ext uri="{0D108BD9-81ED-4DB2-BD59-A6C34878D82A}">
                    <a16:rowId xmlns:a16="http://schemas.microsoft.com/office/drawing/2014/main" val="2295941272"/>
                  </a:ext>
                </a:extLst>
              </a:tr>
              <a:tr h="447936">
                <a:tc>
                  <a:txBody>
                    <a:bodyPr/>
                    <a:lstStyle/>
                    <a:p>
                      <a:r>
                        <a:rPr lang="en-IN" dirty="0"/>
                        <a:t>Embeddings</a:t>
                      </a:r>
                    </a:p>
                  </a:txBody>
                  <a:tcPr marL="100910" marR="100910"/>
                </a:tc>
                <a:tc>
                  <a:txBody>
                    <a:bodyPr/>
                    <a:lstStyle/>
                    <a:p>
                      <a:r>
                        <a:rPr lang="en-IN" dirty="0"/>
                        <a:t>legal-</a:t>
                      </a:r>
                      <a:r>
                        <a:rPr lang="en-IN" dirty="0" err="1"/>
                        <a:t>bert</a:t>
                      </a:r>
                      <a:r>
                        <a:rPr lang="en-IN" dirty="0"/>
                        <a:t> from </a:t>
                      </a:r>
                      <a:r>
                        <a:rPr lang="en-IN" dirty="0" err="1"/>
                        <a:t>HuggingFace</a:t>
                      </a:r>
                      <a:endParaRPr lang="en-IN" dirty="0"/>
                    </a:p>
                  </a:txBody>
                  <a:tcPr marL="100910" marR="100910"/>
                </a:tc>
                <a:extLst>
                  <a:ext uri="{0D108BD9-81ED-4DB2-BD59-A6C34878D82A}">
                    <a16:rowId xmlns:a16="http://schemas.microsoft.com/office/drawing/2014/main" val="3821718340"/>
                  </a:ext>
                </a:extLst>
              </a:tr>
              <a:tr h="447936">
                <a:tc>
                  <a:txBody>
                    <a:bodyPr/>
                    <a:lstStyle/>
                    <a:p>
                      <a:r>
                        <a:rPr lang="en-IN" dirty="0"/>
                        <a:t>Vector Store</a:t>
                      </a:r>
                    </a:p>
                  </a:txBody>
                  <a:tcPr marL="100910" marR="100910"/>
                </a:tc>
                <a:tc>
                  <a:txBody>
                    <a:bodyPr/>
                    <a:lstStyle/>
                    <a:p>
                      <a:r>
                        <a:rPr lang="en-US" dirty="0" err="1"/>
                        <a:t>Qdrant</a:t>
                      </a:r>
                      <a:r>
                        <a:rPr lang="en-US" dirty="0"/>
                        <a:t> (Docker, self-hosted, open-source, free)</a:t>
                      </a:r>
                      <a:endParaRPr lang="en-IN" dirty="0"/>
                    </a:p>
                  </a:txBody>
                  <a:tcPr marL="100910" marR="100910"/>
                </a:tc>
                <a:extLst>
                  <a:ext uri="{0D108BD9-81ED-4DB2-BD59-A6C34878D82A}">
                    <a16:rowId xmlns:a16="http://schemas.microsoft.com/office/drawing/2014/main" val="2750868976"/>
                  </a:ext>
                </a:extLst>
              </a:tr>
              <a:tr h="773150">
                <a:tc>
                  <a:txBody>
                    <a:bodyPr/>
                    <a:lstStyle/>
                    <a:p>
                      <a:r>
                        <a:rPr lang="en-IN" dirty="0"/>
                        <a:t>Retrieval</a:t>
                      </a:r>
                    </a:p>
                  </a:txBody>
                  <a:tcPr marL="100910" marR="100910"/>
                </a:tc>
                <a:tc>
                  <a:txBody>
                    <a:bodyPr/>
                    <a:lstStyle/>
                    <a:p>
                      <a:r>
                        <a:rPr lang="en-US" dirty="0"/>
                        <a:t>Hybrid BM25 + dense search + cross-encoder/</a:t>
                      </a:r>
                      <a:r>
                        <a:rPr lang="en-US" dirty="0" err="1"/>
                        <a:t>ms-marco</a:t>
                      </a:r>
                      <a:r>
                        <a:rPr lang="en-US" dirty="0"/>
                        <a:t> (</a:t>
                      </a:r>
                      <a:r>
                        <a:rPr lang="en-US" dirty="0" err="1"/>
                        <a:t>HuggingFace</a:t>
                      </a:r>
                      <a:r>
                        <a:rPr lang="en-US" dirty="0"/>
                        <a:t>, free) + LLM query expansion</a:t>
                      </a:r>
                      <a:endParaRPr lang="en-IN" dirty="0"/>
                    </a:p>
                  </a:txBody>
                  <a:tcPr marL="100910" marR="100910"/>
                </a:tc>
                <a:extLst>
                  <a:ext uri="{0D108BD9-81ED-4DB2-BD59-A6C34878D82A}">
                    <a16:rowId xmlns:a16="http://schemas.microsoft.com/office/drawing/2014/main" val="1967892122"/>
                  </a:ext>
                </a:extLst>
              </a:tr>
              <a:tr h="447936">
                <a:tc>
                  <a:txBody>
                    <a:bodyPr/>
                    <a:lstStyle/>
                    <a:p>
                      <a:r>
                        <a:rPr lang="en-IN" dirty="0"/>
                        <a:t>LLM</a:t>
                      </a:r>
                    </a:p>
                  </a:txBody>
                  <a:tcPr marL="100910" marR="100910"/>
                </a:tc>
                <a:tc>
                  <a:txBody>
                    <a:bodyPr/>
                    <a:lstStyle/>
                    <a:p>
                      <a:r>
                        <a:rPr lang="en-IN" dirty="0" err="1"/>
                        <a:t>Ollama</a:t>
                      </a:r>
                      <a:r>
                        <a:rPr lang="en-IN" dirty="0"/>
                        <a:t> + Llama 3.1 70B-Q4</a:t>
                      </a:r>
                    </a:p>
                  </a:txBody>
                  <a:tcPr marL="100910" marR="100910"/>
                </a:tc>
                <a:extLst>
                  <a:ext uri="{0D108BD9-81ED-4DB2-BD59-A6C34878D82A}">
                    <a16:rowId xmlns:a16="http://schemas.microsoft.com/office/drawing/2014/main" val="946935523"/>
                  </a:ext>
                </a:extLst>
              </a:tr>
              <a:tr h="447936">
                <a:tc>
                  <a:txBody>
                    <a:bodyPr/>
                    <a:lstStyle/>
                    <a:p>
                      <a:r>
                        <a:rPr lang="en-IN" dirty="0"/>
                        <a:t>Backend</a:t>
                      </a:r>
                    </a:p>
                  </a:txBody>
                  <a:tcPr marL="100910" marR="100910"/>
                </a:tc>
                <a:tc>
                  <a:txBody>
                    <a:bodyPr/>
                    <a:lstStyle/>
                    <a:p>
                      <a:r>
                        <a:rPr lang="es-ES" dirty="0" err="1"/>
                        <a:t>FastAPI</a:t>
                      </a:r>
                      <a:r>
                        <a:rPr lang="es-ES" dirty="0"/>
                        <a:t> + </a:t>
                      </a:r>
                      <a:r>
                        <a:rPr lang="es-ES" dirty="0" err="1"/>
                        <a:t>Pydantic</a:t>
                      </a:r>
                      <a:endParaRPr lang="en-IN" dirty="0"/>
                    </a:p>
                  </a:txBody>
                  <a:tcPr marL="100910" marR="100910"/>
                </a:tc>
                <a:extLst>
                  <a:ext uri="{0D108BD9-81ED-4DB2-BD59-A6C34878D82A}">
                    <a16:rowId xmlns:a16="http://schemas.microsoft.com/office/drawing/2014/main" val="3428261514"/>
                  </a:ext>
                </a:extLst>
              </a:tr>
              <a:tr h="447936">
                <a:tc>
                  <a:txBody>
                    <a:bodyPr/>
                    <a:lstStyle/>
                    <a:p>
                      <a:r>
                        <a:rPr lang="en-IN" dirty="0"/>
                        <a:t>Frontend</a:t>
                      </a:r>
                    </a:p>
                  </a:txBody>
                  <a:tcPr marL="100910" marR="100910"/>
                </a:tc>
                <a:tc>
                  <a:txBody>
                    <a:bodyPr/>
                    <a:lstStyle/>
                    <a:p>
                      <a:r>
                        <a:rPr lang="en-IN" dirty="0" err="1"/>
                        <a:t>Streamlit</a:t>
                      </a:r>
                      <a:r>
                        <a:rPr lang="en-IN" dirty="0"/>
                        <a:t> </a:t>
                      </a:r>
                    </a:p>
                  </a:txBody>
                  <a:tcPr marL="100910" marR="100910"/>
                </a:tc>
                <a:extLst>
                  <a:ext uri="{0D108BD9-81ED-4DB2-BD59-A6C34878D82A}">
                    <a16:rowId xmlns:a16="http://schemas.microsoft.com/office/drawing/2014/main" val="4254895733"/>
                  </a:ext>
                </a:extLst>
              </a:tr>
              <a:tr h="447936">
                <a:tc>
                  <a:txBody>
                    <a:bodyPr/>
                    <a:lstStyle/>
                    <a:p>
                      <a:r>
                        <a:rPr lang="en-IN" dirty="0"/>
                        <a:t>Deployment</a:t>
                      </a:r>
                    </a:p>
                  </a:txBody>
                  <a:tcPr marL="100910" marR="100910"/>
                </a:tc>
                <a:tc>
                  <a:txBody>
                    <a:bodyPr/>
                    <a:lstStyle/>
                    <a:p>
                      <a:r>
                        <a:rPr lang="en-US" dirty="0"/>
                        <a:t>Docker Compose local or Oracle Cloud Always Free VM (4</a:t>
                      </a:r>
                      <a:endParaRPr lang="en-IN" dirty="0"/>
                    </a:p>
                  </a:txBody>
                  <a:tcPr marL="100910" marR="100910"/>
                </a:tc>
                <a:extLst>
                  <a:ext uri="{0D108BD9-81ED-4DB2-BD59-A6C34878D82A}">
                    <a16:rowId xmlns:a16="http://schemas.microsoft.com/office/drawing/2014/main" val="3174950974"/>
                  </a:ext>
                </a:extLst>
              </a:tr>
              <a:tr h="447936">
                <a:tc>
                  <a:txBody>
                    <a:bodyPr/>
                    <a:lstStyle/>
                    <a:p>
                      <a:r>
                        <a:rPr lang="en-IN" dirty="0"/>
                        <a:t>Export</a:t>
                      </a:r>
                    </a:p>
                  </a:txBody>
                  <a:tcPr marL="100910" marR="100910"/>
                </a:tc>
                <a:tc>
                  <a:txBody>
                    <a:bodyPr/>
                    <a:lstStyle/>
                    <a:p>
                      <a:r>
                        <a:rPr lang="en-US" dirty="0"/>
                        <a:t>python-docx for Word export</a:t>
                      </a:r>
                      <a:endParaRPr lang="en-IN" dirty="0"/>
                    </a:p>
                  </a:txBody>
                  <a:tcPr marL="100910" marR="100910"/>
                </a:tc>
                <a:extLst>
                  <a:ext uri="{0D108BD9-81ED-4DB2-BD59-A6C34878D82A}">
                    <a16:rowId xmlns:a16="http://schemas.microsoft.com/office/drawing/2014/main" val="97494831"/>
                  </a:ext>
                </a:extLst>
              </a:tr>
            </a:tbl>
          </a:graphicData>
        </a:graphic>
      </p:graphicFrame>
    </p:spTree>
    <p:extLst>
      <p:ext uri="{BB962C8B-B14F-4D97-AF65-F5344CB8AC3E}">
        <p14:creationId xmlns:p14="http://schemas.microsoft.com/office/powerpoint/2010/main" val="2889254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26718-ADAE-5DD0-D3C3-971913833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066B6-F615-2EF9-AA0A-31F9A8054514}"/>
              </a:ext>
            </a:extLst>
          </p:cNvPr>
          <p:cNvSpPr>
            <a:spLocks noGrp="1"/>
          </p:cNvSpPr>
          <p:nvPr>
            <p:ph type="title"/>
          </p:nvPr>
        </p:nvSpPr>
        <p:spPr/>
        <p:txBody>
          <a:bodyPr/>
          <a:lstStyle/>
          <a:p>
            <a:r>
              <a:rPr lang="en-US" dirty="0"/>
              <a:t>Citations</a:t>
            </a:r>
            <a:endParaRPr lang="en-IN" dirty="0"/>
          </a:p>
        </p:txBody>
      </p:sp>
      <p:sp>
        <p:nvSpPr>
          <p:cNvPr id="3" name="Content Placeholder 2">
            <a:extLst>
              <a:ext uri="{FF2B5EF4-FFF2-40B4-BE49-F238E27FC236}">
                <a16:creationId xmlns:a16="http://schemas.microsoft.com/office/drawing/2014/main" id="{66CEF839-4C3B-FAD8-41E0-9146E443C015}"/>
              </a:ext>
            </a:extLst>
          </p:cNvPr>
          <p:cNvSpPr>
            <a:spLocks noGrp="1"/>
          </p:cNvSpPr>
          <p:nvPr>
            <p:ph idx="1"/>
          </p:nvPr>
        </p:nvSpPr>
        <p:spPr/>
        <p:txBody>
          <a:bodyPr>
            <a:normAutofit/>
          </a:bodyPr>
          <a:lstStyle/>
          <a:p>
            <a:r>
              <a:rPr lang="en-IN" dirty="0" err="1"/>
              <a:t>Dhagat</a:t>
            </a:r>
            <a:r>
              <a:rPr lang="en-IN" dirty="0"/>
              <a:t>, N., Dabhi, V. K., Prajapati, H. B., &amp; Barad, Z. J. (2026). Telephony Voice Agent for Banking Services. </a:t>
            </a:r>
            <a:r>
              <a:rPr lang="en-IN" i="1" dirty="0" err="1"/>
              <a:t>arXiv</a:t>
            </a:r>
            <a:r>
              <a:rPr lang="en-IN" i="1" dirty="0"/>
              <a:t> preprint arXiv:2606.28779</a:t>
            </a:r>
            <a:r>
              <a:rPr lang="en-IN" dirty="0"/>
              <a:t>.</a:t>
            </a:r>
          </a:p>
          <a:p>
            <a:r>
              <a:rPr lang="en-IN" dirty="0"/>
              <a:t>Oruganti, S. C. (2020). Virtual bank assistance: An AI based voice bot for better banking. </a:t>
            </a:r>
            <a:r>
              <a:rPr lang="en-IN" i="1" dirty="0"/>
              <a:t>Int J Res</a:t>
            </a:r>
            <a:r>
              <a:rPr lang="en-IN" dirty="0"/>
              <a:t>, </a:t>
            </a:r>
            <a:r>
              <a:rPr lang="en-IN" i="1" dirty="0"/>
              <a:t>9</a:t>
            </a:r>
            <a:r>
              <a:rPr lang="en-IN" dirty="0"/>
              <a:t>(1), 177-83.</a:t>
            </a:r>
          </a:p>
          <a:p>
            <a:r>
              <a:rPr lang="en-IN" dirty="0" err="1"/>
              <a:t>Dhagat</a:t>
            </a:r>
            <a:r>
              <a:rPr lang="en-IN" dirty="0"/>
              <a:t>, N., Dabhi, V. K., Prajapati, H. B., &amp; Barad, Z. J. (2026). Telephony Voice Agent for Banking Services. </a:t>
            </a:r>
            <a:r>
              <a:rPr lang="en-IN" i="1" dirty="0" err="1"/>
              <a:t>arXiv</a:t>
            </a:r>
            <a:r>
              <a:rPr lang="en-IN" i="1" dirty="0"/>
              <a:t> preprint arXiv:2606.28779</a:t>
            </a:r>
            <a:r>
              <a:rPr lang="en-IN" dirty="0"/>
              <a:t>.</a:t>
            </a:r>
          </a:p>
          <a:p>
            <a:r>
              <a:rPr lang="en-IN" dirty="0"/>
              <a:t>Inala, R., &amp; Somu, B. (2024). Agentic ai in retail banking: Redefining customer service and financial decision-making. </a:t>
            </a:r>
            <a:r>
              <a:rPr lang="en-IN" i="1" dirty="0"/>
              <a:t>Journal of Artificial Intelligence and Big Data Disciplines</a:t>
            </a:r>
            <a:r>
              <a:rPr lang="en-IN" dirty="0"/>
              <a:t>, </a:t>
            </a:r>
            <a:r>
              <a:rPr lang="en-IN" i="1" dirty="0"/>
              <a:t>1</a:t>
            </a:r>
            <a:r>
              <a:rPr lang="en-IN" dirty="0"/>
              <a:t>(1), 1-19.</a:t>
            </a:r>
          </a:p>
        </p:txBody>
      </p:sp>
    </p:spTree>
    <p:extLst>
      <p:ext uri="{BB962C8B-B14F-4D97-AF65-F5344CB8AC3E}">
        <p14:creationId xmlns:p14="http://schemas.microsoft.com/office/powerpoint/2010/main" val="1771925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3310-BFD8-56C2-B5E3-B50C25093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69C44-C673-B546-047A-419DB72261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C67ABA-FE02-2AAE-62FB-B8598B670EAE}"/>
              </a:ext>
            </a:extLst>
          </p:cNvPr>
          <p:cNvSpPr>
            <a:spLocks noGrp="1"/>
          </p:cNvSpPr>
          <p:nvPr>
            <p:ph idx="1"/>
          </p:nvPr>
        </p:nvSpPr>
        <p:spPr/>
        <p:txBody>
          <a:bodyPr>
            <a:normAutofit/>
          </a:bodyPr>
          <a:lstStyle/>
          <a:p>
            <a:r>
              <a:rPr lang="en-IN" dirty="0"/>
              <a:t>Sunkara, V. L. B., &amp; Dhanasekaran, S. Transforming Mobile Banking with Conversational AI and Voice Recognition.</a:t>
            </a:r>
          </a:p>
          <a:p>
            <a:r>
              <a:rPr lang="en-IN" dirty="0"/>
              <a:t>Inala, R., &amp; Somu, B. (2025). Building trustworthy agentic AI systems for personalized banking experiences. </a:t>
            </a:r>
            <a:r>
              <a:rPr lang="en-IN" i="1" dirty="0"/>
              <a:t>Metallurgical and Materials Engineering</a:t>
            </a:r>
            <a:r>
              <a:rPr lang="en-IN" dirty="0"/>
              <a:t>, </a:t>
            </a:r>
            <a:r>
              <a:rPr lang="en-IN" i="1" dirty="0"/>
              <a:t>31</a:t>
            </a:r>
            <a:r>
              <a:rPr lang="en-IN" dirty="0"/>
              <a:t>(5), 1336-1360.</a:t>
            </a:r>
          </a:p>
          <a:p>
            <a:r>
              <a:rPr lang="en-IN" dirty="0"/>
              <a:t>Singh, P. (2025). Leveraging AI for Real-Time Customer Support in Telecommunications.</a:t>
            </a:r>
          </a:p>
          <a:p>
            <a:r>
              <a:rPr lang="en-IN" dirty="0"/>
              <a:t>Chugh, S., &amp; Pondal, P. (2025). Human-Computer Interaction with Voice-Driven AI Chatbots. </a:t>
            </a:r>
            <a:r>
              <a:rPr lang="en-IN" i="1" dirty="0"/>
              <a:t>Int. J. Sci. Res. Eng. Manag.</a:t>
            </a:r>
            <a:r>
              <a:rPr lang="en-IN" dirty="0"/>
              <a:t>, </a:t>
            </a:r>
            <a:r>
              <a:rPr lang="en-IN" i="1" dirty="0"/>
              <a:t>9</a:t>
            </a:r>
            <a:r>
              <a:rPr lang="en-IN" dirty="0"/>
              <a:t>(05), 1-9.</a:t>
            </a:r>
          </a:p>
        </p:txBody>
      </p:sp>
    </p:spTree>
    <p:extLst>
      <p:ext uri="{BB962C8B-B14F-4D97-AF65-F5344CB8AC3E}">
        <p14:creationId xmlns:p14="http://schemas.microsoft.com/office/powerpoint/2010/main" val="3581882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F664E-6C7F-ED31-C5F2-AC6154D41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74CBD-3BCE-AB1C-B7A0-55AF34786CB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BBED03-0DBC-E411-C1AF-CE18EC85272F}"/>
              </a:ext>
            </a:extLst>
          </p:cNvPr>
          <p:cNvSpPr>
            <a:spLocks noGrp="1"/>
          </p:cNvSpPr>
          <p:nvPr>
            <p:ph idx="1"/>
          </p:nvPr>
        </p:nvSpPr>
        <p:spPr/>
        <p:txBody>
          <a:bodyPr>
            <a:normAutofit/>
          </a:bodyPr>
          <a:lstStyle/>
          <a:p>
            <a:r>
              <a:rPr lang="en-IN" dirty="0"/>
              <a:t>Anand, L. G. (2025). From Voice to Value: The Expanding Role of AI in Communication and Financial Services.</a:t>
            </a:r>
          </a:p>
          <a:p>
            <a:r>
              <a:rPr lang="en-IN" dirty="0" err="1"/>
              <a:t>Chitraju</a:t>
            </a:r>
            <a:r>
              <a:rPr lang="en-IN" dirty="0"/>
              <a:t>, S. (2025). Smart Systems, Smarter Decisions: AI Applications in Voice Recognition, User Support, and Financial Services. </a:t>
            </a:r>
            <a:r>
              <a:rPr lang="en-IN" i="1" dirty="0"/>
              <a:t>Smarter Decisions: AI Applications in Voice Recognition, User Support, and Financial Services (August 18, 2025)</a:t>
            </a:r>
            <a:r>
              <a:rPr lang="en-IN" dirty="0"/>
              <a:t>.</a:t>
            </a:r>
          </a:p>
          <a:p>
            <a:r>
              <a:rPr lang="en-IN" dirty="0" err="1"/>
              <a:t>Henkens</a:t>
            </a:r>
            <a:r>
              <a:rPr lang="en-IN" dirty="0"/>
              <a:t>, B., Schultz, C. D., De Keyser, A., &amp; Mahr, D. (2026). The sound of progress: AI voice agents in service. </a:t>
            </a:r>
            <a:r>
              <a:rPr lang="en-IN" i="1" dirty="0"/>
              <a:t>Journal of Service Management</a:t>
            </a:r>
            <a:r>
              <a:rPr lang="en-IN" dirty="0"/>
              <a:t>, </a:t>
            </a:r>
            <a:r>
              <a:rPr lang="en-IN" i="1" dirty="0"/>
              <a:t>37</a:t>
            </a:r>
            <a:r>
              <a:rPr lang="en-IN" dirty="0"/>
              <a:t>(1), 1-32.</a:t>
            </a:r>
          </a:p>
          <a:p>
            <a:r>
              <a:rPr lang="en-IN" dirty="0"/>
              <a:t>Parthiban, E. S., &amp; Adil, M. (2023). Trends in the AI-based banking conversational agents literature: a bibliometric review. </a:t>
            </a:r>
            <a:r>
              <a:rPr lang="en-IN" i="1" dirty="0"/>
              <a:t>Asia pacific journal of information systems</a:t>
            </a:r>
            <a:r>
              <a:rPr lang="en-IN" dirty="0"/>
              <a:t>, </a:t>
            </a:r>
            <a:r>
              <a:rPr lang="en-IN" i="1" dirty="0"/>
              <a:t>33</a:t>
            </a:r>
            <a:r>
              <a:rPr lang="en-IN" dirty="0"/>
              <a:t>(3), 702-736.</a:t>
            </a:r>
          </a:p>
        </p:txBody>
      </p:sp>
    </p:spTree>
    <p:extLst>
      <p:ext uri="{BB962C8B-B14F-4D97-AF65-F5344CB8AC3E}">
        <p14:creationId xmlns:p14="http://schemas.microsoft.com/office/powerpoint/2010/main" val="5289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C10E-BAA4-0871-F56B-4D6EB74AB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092DC-C61C-3B18-D742-1900F41B2E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2EE86E-AFC8-8DF6-B6AB-4A95D13DACF1}"/>
              </a:ext>
            </a:extLst>
          </p:cNvPr>
          <p:cNvSpPr>
            <a:spLocks noGrp="1"/>
          </p:cNvSpPr>
          <p:nvPr>
            <p:ph idx="1"/>
          </p:nvPr>
        </p:nvSpPr>
        <p:spPr/>
        <p:txBody>
          <a:bodyPr>
            <a:normAutofit/>
          </a:bodyPr>
          <a:lstStyle/>
          <a:p>
            <a:r>
              <a:rPr lang="en-IN" dirty="0"/>
              <a:t>Mastrandrea, M. (2024). </a:t>
            </a:r>
            <a:r>
              <a:rPr lang="en-IN" i="1" dirty="0"/>
              <a:t>Developing an AI-Powered Voice Assistant for an iOS Payment App</a:t>
            </a:r>
            <a:r>
              <a:rPr lang="en-IN" dirty="0"/>
              <a:t> (Doctoral dissertation, </a:t>
            </a:r>
            <a:r>
              <a:rPr lang="en-IN" dirty="0" err="1"/>
              <a:t>Politecnico</a:t>
            </a:r>
            <a:r>
              <a:rPr lang="en-IN" dirty="0"/>
              <a:t> di Torino).</a:t>
            </a:r>
          </a:p>
          <a:p>
            <a:r>
              <a:rPr lang="en-IN" dirty="0"/>
              <a:t>Doherty, D., &amp; Curran, K. (2019, December). Chatbots for online banking services. In </a:t>
            </a:r>
            <a:r>
              <a:rPr lang="en-IN" i="1" dirty="0"/>
              <a:t>Web Intelligence</a:t>
            </a:r>
            <a:r>
              <a:rPr lang="en-IN" dirty="0"/>
              <a:t> (Vol. 17, No. 4, pp. 327-342). Sage UK: London, England: SAGE Publications.</a:t>
            </a:r>
          </a:p>
          <a:p>
            <a:r>
              <a:rPr lang="en-IN" dirty="0"/>
              <a:t>Paul, V. (2025). Voice AI Agents: The Technical Backbone of Modern Speech Interfaces. </a:t>
            </a:r>
            <a:r>
              <a:rPr lang="en-IN" i="1" dirty="0"/>
              <a:t>Journal Of Multidisciplinary</a:t>
            </a:r>
            <a:r>
              <a:rPr lang="en-IN" dirty="0"/>
              <a:t>, </a:t>
            </a:r>
            <a:r>
              <a:rPr lang="en-IN" i="1" dirty="0"/>
              <a:t>5</a:t>
            </a:r>
            <a:r>
              <a:rPr lang="en-IN" dirty="0"/>
              <a:t>(7), 610-617.</a:t>
            </a:r>
          </a:p>
        </p:txBody>
      </p:sp>
    </p:spTree>
    <p:extLst>
      <p:ext uri="{BB962C8B-B14F-4D97-AF65-F5344CB8AC3E}">
        <p14:creationId xmlns:p14="http://schemas.microsoft.com/office/powerpoint/2010/main" val="3833798129"/>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TM03457475[[fn=Frame]]</Template>
  <TotalTime>192</TotalTime>
  <Words>1092</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Corbel</vt:lpstr>
      <vt:lpstr>Wingdings 2</vt:lpstr>
      <vt:lpstr>Frame</vt:lpstr>
      <vt:lpstr>Real-Time Voice AI Agent for Banking Support &amp; Legal Research Assistant for Indian Courts</vt:lpstr>
      <vt:lpstr>Problem Statement</vt:lpstr>
      <vt:lpstr>Solution Overview</vt:lpstr>
      <vt:lpstr>Objectives</vt:lpstr>
      <vt:lpstr>Dataset</vt:lpstr>
      <vt:lpstr>Technical Stack</vt:lpstr>
      <vt:lpstr>Technical Stack</vt:lpstr>
      <vt:lpstr>Citations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Aryan Arora</dc:creator>
  <cp:lastModifiedBy>Aryan Arora</cp:lastModifiedBy>
  <cp:revision>4</cp:revision>
  <dcterms:created xsi:type="dcterms:W3CDTF">2026-08-23T17:02:43Z</dcterms:created>
  <dcterms:modified xsi:type="dcterms:W3CDTF">2026-08-28T05:04:59Z</dcterms:modified>
</cp:coreProperties>
</file>